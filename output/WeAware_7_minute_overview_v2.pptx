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d2e6feaa2a43ce" /><Relationship Type="http://schemas.openxmlformats.org/officeDocument/2006/relationships/extended-properties" Target="/docProps/app.xml" Id="R99b0210bc4b84014" /><Relationship Type="http://schemas.openxmlformats.org/officeDocument/2006/relationships/officeDocument" Target="/ppt/presentation.xml" Id="Rf5f7f37d68174e90" /></Relationships>
</file>

<file path=ppt/presentation.xml><?xml version="1.0" encoding="utf-8"?>
<p:presentation xmlns:p="http://schemas.openxmlformats.org/presentationml/2006/main">
  <p:sldMasterIdLst>
    <p:sldMasterId xmlns:r="http://schemas.openxmlformats.org/officeDocument/2006/relationships" id="2147483648" r:id="R0e46608ee4014ed8"/>
  </p:sldMasterIdLst>
  <p:notesMasterIdLst>
    <p:notesMasterId xmlns:r="http://schemas.openxmlformats.org/officeDocument/2006/relationships" r:id="R3a1cfdbf98324855"/>
  </p:notesMasterIdLst>
  <p:sldIdLst>
    <p:sldId xmlns:r="http://schemas.openxmlformats.org/officeDocument/2006/relationships" id="256" r:id="Rd43d227cc81347d8"/>
    <p:sldId xmlns:r="http://schemas.openxmlformats.org/officeDocument/2006/relationships" id="257" r:id="R0e6440ec640f4bac"/>
    <p:sldId xmlns:r="http://schemas.openxmlformats.org/officeDocument/2006/relationships" id="258" r:id="R752ff759e663462d"/>
    <p:sldId xmlns:r="http://schemas.openxmlformats.org/officeDocument/2006/relationships" id="259" r:id="R43a9c70ab0794507"/>
    <p:sldId xmlns:r="http://schemas.openxmlformats.org/officeDocument/2006/relationships" id="260" r:id="R8f9fbed12b38412b"/>
    <p:sldId xmlns:r="http://schemas.openxmlformats.org/officeDocument/2006/relationships" id="261" r:id="Rac9d41c6bb554757"/>
    <p:sldId xmlns:r="http://schemas.openxmlformats.org/officeDocument/2006/relationships" id="262" r:id="R8c2321c634bd462c"/>
    <p:sldId xmlns:r="http://schemas.openxmlformats.org/officeDocument/2006/relationships" id="263" r:id="Ra2484a565c8d492d"/>
    <p:sldId xmlns:r="http://schemas.openxmlformats.org/officeDocument/2006/relationships" id="264" r:id="R2cb97c77ca7347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37ef8100a2476a" /><Relationship Type="http://schemas.openxmlformats.org/officeDocument/2006/relationships/slideMaster" Target="/ppt/slideMasters/slideMaster1.xml" Id="R0e46608ee4014ed8" /><Relationship Type="http://schemas.openxmlformats.org/officeDocument/2006/relationships/notesMaster" Target="/ppt/notesMasters/notesMaster1.xml" Id="R3a1cfdbf98324855" /><Relationship Type="http://schemas.openxmlformats.org/officeDocument/2006/relationships/presProps" Target="/ppt/presProps.xml" Id="R2d07cd94187a4516" /><Relationship Type="http://schemas.openxmlformats.org/officeDocument/2006/relationships/tableStyles" Target="/ppt/tableStyles.xml" Id="R26b42f85896a446b" /><Relationship Type="http://schemas.openxmlformats.org/officeDocument/2006/relationships/slide" Target="/ppt/slides/slide1.xml" Id="Rd43d227cc81347d8" /><Relationship Type="http://schemas.openxmlformats.org/officeDocument/2006/relationships/slide" Target="/ppt/slides/slide2.xml" Id="R0e6440ec640f4bac" /><Relationship Type="http://schemas.openxmlformats.org/officeDocument/2006/relationships/slide" Target="/ppt/slides/slide3.xml" Id="R752ff759e663462d" /><Relationship Type="http://schemas.openxmlformats.org/officeDocument/2006/relationships/slide" Target="/ppt/slides/slide4.xml" Id="R43a9c70ab0794507" /><Relationship Type="http://schemas.openxmlformats.org/officeDocument/2006/relationships/slide" Target="/ppt/slides/slide5.xml" Id="R8f9fbed12b38412b" /><Relationship Type="http://schemas.openxmlformats.org/officeDocument/2006/relationships/slide" Target="/ppt/slides/slide6.xml" Id="Rac9d41c6bb554757" /><Relationship Type="http://schemas.openxmlformats.org/officeDocument/2006/relationships/slide" Target="/ppt/slides/slide7.xml" Id="R8c2321c634bd462c" /><Relationship Type="http://schemas.openxmlformats.org/officeDocument/2006/relationships/slide" Target="/ppt/slides/slide8.xml" Id="Ra2484a565c8d492d" /><Relationship Type="http://schemas.openxmlformats.org/officeDocument/2006/relationships/slide" Target="/ppt/slides/slide9.xml" Id="R2cb97c77ca7347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99ff15913e4e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8bf9035e4c4f67" /><Relationship Type="http://schemas.openxmlformats.org/officeDocument/2006/relationships/notesMaster" Target="/ppt/notesMasters/notesMaster1.xml" Id="Ra3edeca933414b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b4044fd7f74621" /><Relationship Type="http://schemas.openxmlformats.org/officeDocument/2006/relationships/notesMaster" Target="/ppt/notesMasters/notesMaster1.xml" Id="R8af8fe1e2b0e47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135ae142ec4708" /><Relationship Type="http://schemas.openxmlformats.org/officeDocument/2006/relationships/notesMaster" Target="/ppt/notesMasters/notesMaster1.xml" Id="R9ad7bd83222347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7b155d2a0b42b9" /><Relationship Type="http://schemas.openxmlformats.org/officeDocument/2006/relationships/notesMaster" Target="/ppt/notesMasters/notesMaster1.xml" Id="R638f9d498a5546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9f0a49d79e4d72" /><Relationship Type="http://schemas.openxmlformats.org/officeDocument/2006/relationships/notesMaster" Target="/ppt/notesMasters/notesMaster1.xml" Id="R3d664b33a95642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2c50f2f41e44de" /><Relationship Type="http://schemas.openxmlformats.org/officeDocument/2006/relationships/notesMaster" Target="/ppt/notesMasters/notesMaster1.xml" Id="R531858b19e4945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8c2c5bf1514bdd" /><Relationship Type="http://schemas.openxmlformats.org/officeDocument/2006/relationships/notesMaster" Target="/ppt/notesMasters/notesMaster1.xml" Id="Refd9e6368b8e4c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bb0a585104269" /><Relationship Type="http://schemas.openxmlformats.org/officeDocument/2006/relationships/notesMaster" Target="/ppt/notesMasters/notesMaster1.xml" Id="R054644cd4d4946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611559f8b1487a" /><Relationship Type="http://schemas.openxmlformats.org/officeDocument/2006/relationships/notesMaster" Target="/ppt/notesMasters/notesMaster1.xml" Id="R27bd7ed83ee148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promise: WeAware brings reporting together, shows where sources agree or differ, and gives readers the original evidence. The talk covers the news ingestion path, the separate short-video track, and the current website experience. Keep the framing grounded in project implementation, not audience metrics. Target 0:25.</a:t>
            </a:r>
          </a:p>
          <a:p xmlns:a="http://schemas.openxmlformats.org/drawingml/2006/main">
            <a:r>
              <a:t/>
            </a:r>
          </a:p>
          <a:p xmlns:a="http://schemas.openxmlformats.org/drawingml/2006/main">
            <a:r>
              <a:t>Sources: WEAWARE/src/App.jsx; WEAWARE/src/components/AboutPage.jsx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WeAware is designed as a reading room for contested stories. The central choice is to expose how reporting lines up, rather than collapse the coverage into one opaque score. Readers can inspect the outlets and the claims behind a summary. This is the product principle expressed in the About page. Target 0:55.</a:t>
            </a:r>
          </a:p>
          <a:p xmlns:a="http://schemas.openxmlformats.org/drawingml/2006/main">
            <a:r>
              <a:t/>
            </a:r>
          </a:p>
          <a:p xmlns:a="http://schemas.openxmlformats.org/drawingml/2006/main">
            <a:r>
              <a:t>Sources: WEAWARE/src/components/AboutPage.jsx; WEAWARE/src/data/stories.js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flow from collection to review. The ingestion code fetches RSS, commercial news API, and curated Bluesky items; normalizes them into one schema; removes same-source URL duplicates; clusters items by likely story; stores stories and items; and flags short or failed extraction for review. The code marks items corroborated when their story contains more than one distinct source. Avoid claiming any particular volume or refresh rate. Target 1:00.</a:t>
            </a:r>
          </a:p>
          <a:p xmlns:a="http://schemas.openxmlformats.org/drawingml/2006/main">
            <a:r>
              <a:t/>
            </a:r>
          </a:p>
          <a:p xmlns:a="http://schemas.openxmlformats.org/drawingml/2006/main">
            <a:r>
              <a:t>Sources: backend/ingestion/run_stage1.py; backend/ingestion/sources/registry.json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reader experience as a sequence: read a neutral summary, check how sources align or add context, then inspect disputed or overconfident claims with a reason attached. WeAware’s stated principles are cross-check before publish, show the split, and link back to original reporting. Any local sample headlines are illustrative only. Target 0:55.</a:t>
            </a:r>
          </a:p>
          <a:p xmlns:a="http://schemas.openxmlformats.org/drawingml/2006/main">
            <a:r>
              <a:t/>
            </a:r>
          </a:p>
          <a:p xmlns:a="http://schemas.openxmlformats.org/drawingml/2006/main">
            <a:r>
              <a:t>Sources: WEAWARE/src/components/AboutPage.jsx; WEAWARE/src/components/Reader.jsx; WEAWARE/src/components/StoryCard.jsx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product track from ingestion and the website. The documented workflow selects a corroborated story, writes and checks a script, creates four vertical clips, assembles captions and source attribution, then routes the episode through human review before Make.com can publish an approved video and acknowledge completion. A crucial status caveat: HANDOFF.md says the scheduler is paused and editorial/quality work is still underway. Do not imply the full workflow is currently publishing automatically. Target 1:10.</a:t>
            </a:r>
          </a:p>
          <a:p xmlns:a="http://schemas.openxmlformats.org/drawingml/2006/main">
            <a:r>
              <a:t/>
            </a:r>
          </a:p>
          <a:p xmlns:a="http://schemas.openxmlformats.org/drawingml/2006/main">
            <a:r>
              <a:t>Sources: video/README.md; video/pipeline/runner.py; video/api/main.py; 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React experience includes Feed, Newsletters, Podcasts, and About views, plus story reading, theme switching, and listen/share actions. The site explains its editorial method and gives readers a place to inspect sources and flagged claims. Be precise about content status: stories.js labels the sample data fictional and frontend-only, so this is not a live news feed or analytics view. Target 1:00.</a:t>
            </a:r>
          </a:p>
          <a:p xmlns:a="http://schemas.openxmlformats.org/drawingml/2006/main">
            <a:r>
              <a:t/>
            </a:r>
          </a:p>
          <a:p xmlns:a="http://schemas.openxmlformats.org/drawingml/2006/main">
            <a:r>
              <a:t>Sources: WEAWARE/src/App.jsx; WEAWARE/src/data/stories.js; WEAWARE/src/components/AboutPage.jsx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this slide for about 25 seconds. Add the real Instagram statistics screenshot to the left and a current website or app screenshot to the right. No performance numbers are included in this deck because none were supplied. Target 0:25.</a:t>
            </a:r>
          </a:p>
          <a:p xmlns:a="http://schemas.openxmlformats.org/drawingml/2006/main">
            <a:r>
              <a:t/>
            </a:r>
          </a:p>
          <a:p xmlns:a="http://schemas.openxmlformats.org/drawingml/2006/main">
            <a:r>
              <a:t>Sources: User-requested screenshot placeholders; no screenshots or Instagram metrics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practical priorities, clearly framed as next steps: connect the live story service to the reader experience, complete verification before restarting the paused video scheduler, and gather actual Instagram and website analytics. The deck deliberately includes no reach or engagement claims. End on the product goal: better context for each story. Target 0:55.</a:t>
            </a:r>
          </a:p>
          <a:p xmlns:a="http://schemas.openxmlformats.org/drawingml/2006/main">
            <a:r>
              <a:t/>
            </a:r>
          </a:p>
          <a:p xmlns:a="http://schemas.openxmlformats.org/drawingml/2006/main">
            <a:r>
              <a:t>Sources: HANDOFF.md; WEAWARE/src/App.jsx; video/README.md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factual basis for this overview is the project repository. Cite these source files if the deck is shared separately. The frontend demo story data is explicitly fictional. The video handoff documents the paused scheduler and incomplete editorial/quality work. Target 0:15.</a:t>
            </a:r>
          </a:p>
          <a:p xmlns:a="http://schemas.openxmlformats.org/drawingml/2006/main">
            <a:r>
              <a:t/>
            </a:r>
          </a:p>
          <a:p xmlns:a="http://schemas.openxmlformats.org/drawingml/2006/main">
            <a:r>
              <a:t>Sources: backend/ingestion/run_stage1.py; backend/api/main.py; video/README.md; video/pipeline/runner.py; WEAWARE/src/App.jsx; WEAWARE/src/data/stories.js; WEAWARE/src/components/AboutPage.jsx; 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f0c0176e1841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8c26a96bc147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7fb3c51f7c4a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ea4effcd614f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5e0fd4660c47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891e1d895f4e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36E391-256D-4C8F-918A-EA65754685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72EFDE-82BC-40FD-B5AD-44AF9556A6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EE881AB-AD63-408A-A044-56179E57B8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506C49-57EA-49A1-A6BF-B267DB824F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A6B829-3C91-460D-9F16-9FDF4F642F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BB5FB9-897E-43CF-A60C-4401F608B1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5CE7D2-F07D-4DDD-BDE3-4AC69B8BAE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816C18-105F-4C28-A369-ABFE776B79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AB05F5-FD4D-4CB7-9299-8C0AF1FDA3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31299D-1E5F-475A-B124-571CE24CF0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8e712825f74411" /><Relationship Type="http://schemas.openxmlformats.org/officeDocument/2006/relationships/slideLayout" Target="/ppt/slideLayouts/slideLayout1.xml" Id="Rfe559c58bcbe4d89" /><Relationship Type="http://schemas.openxmlformats.org/officeDocument/2006/relationships/slideLayout" Target="/ppt/slideLayouts/slideLayout2.xml" Id="Rcdf8d8d1c02a46ed" /><Relationship Type="http://schemas.openxmlformats.org/officeDocument/2006/relationships/slideLayout" Target="/ppt/slideLayouts/slideLayout3.xml" Id="R1416df4bc2a64aa2" /><Relationship Type="http://schemas.openxmlformats.org/officeDocument/2006/relationships/slideLayout" Target="/ppt/slideLayouts/slideLayout4.xml" Id="R5c4c2882f17b490a" /><Relationship Type="http://schemas.openxmlformats.org/officeDocument/2006/relationships/slideLayout" Target="/ppt/slideLayouts/slideLayout5.xml" Id="Rceffbbb1fdf64977" /><Relationship Type="http://schemas.openxmlformats.org/officeDocument/2006/relationships/slideLayout" Target="/ppt/slideLayouts/slideLayout6.xml" Id="Rea64f8d6706047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559c58bcbe4d89"/>
    <p:sldLayoutId xmlns:r="http://schemas.openxmlformats.org/officeDocument/2006/relationships" id="2147483650" r:id="Rcdf8d8d1c02a46ed"/>
    <p:sldLayoutId xmlns:r="http://schemas.openxmlformats.org/officeDocument/2006/relationships" id="2147483651" r:id="R1416df4bc2a64aa2"/>
    <p:sldLayoutId xmlns:r="http://schemas.openxmlformats.org/officeDocument/2006/relationships" id="2147483652" r:id="R5c4c2882f17b490a"/>
    <p:sldLayoutId xmlns:r="http://schemas.openxmlformats.org/officeDocument/2006/relationships" id="2147483653" r:id="Rceffbbb1fdf64977"/>
    <p:sldLayoutId xmlns:r="http://schemas.openxmlformats.org/officeDocument/2006/relationships" id="2147483654" r:id="Rea64f8d6706047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6388f897664ada" /><Relationship Type="http://schemas.openxmlformats.org/officeDocument/2006/relationships/notesSlide" Target="/ppt/notesSlides/notesSlide1.xml" Id="R45340df0c7a74f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882d8b21444f81" /><Relationship Type="http://schemas.openxmlformats.org/officeDocument/2006/relationships/notesSlide" Target="/ppt/notesSlides/notesSlide2.xml" Id="R1a44442030ab44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9729bda21d4456" /><Relationship Type="http://schemas.openxmlformats.org/officeDocument/2006/relationships/notesSlide" Target="/ppt/notesSlides/notesSlide3.xml" Id="Rdcb2b02811d74e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8b5b051e934abe" /><Relationship Type="http://schemas.openxmlformats.org/officeDocument/2006/relationships/notesSlide" Target="/ppt/notesSlides/notesSlide4.xml" Id="Rca422b5576444a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2809d17d7241f6" /><Relationship Type="http://schemas.openxmlformats.org/officeDocument/2006/relationships/notesSlide" Target="/ppt/notesSlides/notesSlide5.xml" Id="Re1e0d0a8876146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e0ed863ef84f8d" /><Relationship Type="http://schemas.openxmlformats.org/officeDocument/2006/relationships/notesSlide" Target="/ppt/notesSlides/notesSlide6.xml" Id="R75678e5bc8e44f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ec050ad67642ec" /><Relationship Type="http://schemas.openxmlformats.org/officeDocument/2006/relationships/notesSlide" Target="/ppt/notesSlides/notesSlide7.xml" Id="R5dc7a32d788741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086287c6574928" /><Relationship Type="http://schemas.openxmlformats.org/officeDocument/2006/relationships/notesSlide" Target="/ppt/notesSlides/notesSlide8.xml" Id="R645b480312154b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2b083a585846df" /><Relationship Type="http://schemas.openxmlformats.org/officeDocument/2006/relationships/notesSlide" Target="/ppt/notesSlides/notesSlide9.xml" Id="R70c06ed3a5b844e8" /></Relationships>
</file>

<file path=ppt/slides/slide1.xml><?xml version="1.0" encoding="utf-8"?>
<p:sld xmlns:p="http://schemas.openxmlformats.org/presentationml/2006/main">
  <p:cSld>
    <p:bg>
      <p:bgPr>
        <a:solidFill xmlns:a="http://schemas.openxmlformats.org/drawingml/2006/main">
          <a:srgbClr val="E9FF42"/>
        </a:solidFill>
      </p:bgPr>
    </p:bg>
    <p:spTree>
      <p:nvGrpSpPr>
        <p:cNvPr id="1" name=""/>
        <p:cNvGrpSpPr/>
        <p:nvPr/>
      </p:nvGrpSpPr>
      <p:grpSpPr>
        <a:xfrm xmlns:a="http://schemas.openxmlformats.org/drawingml/2006/main"/>
      </p:grpSpPr>
      <p:sp>
        <p:nvSpPr>
          <p:cNvPr id="11" name="cover-frame">
            <a:extLst xmlns:a="http://schemas.openxmlformats.org/drawingml/2006/main">
              <a:ext uri="{FF2B5EF4-FFF2-40B4-BE49-F238E27FC236}">
                <a16:creationId xmlns:a16="http://schemas.microsoft.com/office/drawing/2014/main" id="{1D30AAA6-9D7C-4FF9-A417-63A2CBB0011F}"/>
              </a:ext>
            </a:extLst>
          </p:cNvPr>
          <p:cNvSpPr>
            <a:spLocks xmlns:a="http://schemas.openxmlformats.org/drawingml/2006/main" noGrp="1"/>
          </p:cNvSpPr>
          <p:nvPr/>
        </p:nvSpPr>
        <p:spPr>
          <a:xfrm xmlns:a="http://schemas.openxmlformats.org/drawingml/2006/main">
            <a:off x="609600" y="552450"/>
            <a:ext cx="10972800" cy="5753100"/>
          </a:xfrm>
          <a:prstGeom xmlns:a="http://schemas.openxmlformats.org/drawingml/2006/main" prst="rect">
            <a:avLst/>
          </a:prstGeom>
          <a:solidFill xmlns:a="http://schemas.openxmlformats.org/drawingml/2006/main">
            <a:srgbClr val="E9FF42"/>
          </a:solidFill>
          <a:ln xmlns:a="http://schemas.openxmlformats.org/drawingml/2006/main" w="38100">
            <a:solidFill>
              <a:srgbClr val="151515"/>
            </a:solidFill>
            <a:prstDash val="solid"/>
          </a:ln>
        </p:spPr>
      </p:sp>
      <p:sp>
        <p:nvSpPr>
          <p:cNvPr id="2" name="cover-kicker">
            <a:extLst xmlns:a="http://schemas.openxmlformats.org/drawingml/2006/main">
              <a:ext uri="{FF2B5EF4-FFF2-40B4-BE49-F238E27FC236}">
                <a16:creationId xmlns:a16="http://schemas.microsoft.com/office/drawing/2014/main" id="{6753B954-051D-44B7-BFD5-35DBE1597F66}"/>
              </a:ext>
            </a:extLst>
          </p:cNvPr>
          <p:cNvSpPr>
            <a:spLocks xmlns:a="http://schemas.openxmlformats.org/drawingml/2006/main" noGrp="1"/>
          </p:cNvSpPr>
          <p:nvPr/>
        </p:nvSpPr>
        <p:spPr>
          <a:xfrm xmlns:a="http://schemas.openxmlformats.org/drawingml/2006/main">
            <a:off x="914400" y="8382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51515"/>
                </a:solidFill>
                <a:latin typeface="Arial"/>
                <a:ea typeface="Arial"/>
                <a:cs typeface="Arial"/>
              </a:defRPr>
            </a:defPPr>
          </a:lstStyle>
          <a:p xmlns:a="http://schemas.openxmlformats.org/drawingml/2006/main">
            <a:pPr algn="l">
              <a:defRPr sz="1275" b="1">
                <a:solidFill>
                  <a:srgbClr val="151515"/>
                </a:solidFill>
                <a:latin typeface="Arial"/>
                <a:ea typeface="Arial"/>
                <a:cs typeface="Arial"/>
              </a:defRPr>
            </a:pPr>
            <a:r>
              <a:rPr sz="1275" b="1">
                <a:solidFill>
                  <a:srgbClr val="151515"/>
                </a:solidFill>
                <a:latin typeface="Arial"/>
                <a:ea typeface="Arial"/>
                <a:cs typeface="Arial"/>
              </a:rPr>
              <a:t>WEAWARE  /  PROJECT OVERVIEW</a:t>
            </a:r>
          </a:p>
        </p:txBody>
      </p:sp>
      <p:sp>
        <p:nvSpPr>
          <p:cNvPr id="3" name="cover-title">
            <a:extLst xmlns:a="http://schemas.openxmlformats.org/drawingml/2006/main">
              <a:ext uri="{FF2B5EF4-FFF2-40B4-BE49-F238E27FC236}">
                <a16:creationId xmlns:a16="http://schemas.microsoft.com/office/drawing/2014/main" id="{1112DAD6-EA69-4935-B366-B8477BFEAAB8}"/>
              </a:ext>
            </a:extLst>
          </p:cNvPr>
          <p:cNvSpPr>
            <a:spLocks xmlns:a="http://schemas.openxmlformats.org/drawingml/2006/main" noGrp="1"/>
          </p:cNvSpPr>
          <p:nvPr/>
        </p:nvSpPr>
        <p:spPr>
          <a:xfrm xmlns:a="http://schemas.openxmlformats.org/drawingml/2006/main">
            <a:off x="876300" y="1562100"/>
            <a:ext cx="80962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7200" b="1">
                <a:solidFill>
                  <a:srgbClr val="151515"/>
                </a:solidFill>
                <a:latin typeface="Arial"/>
                <a:ea typeface="Arial"/>
                <a:cs typeface="Arial"/>
              </a:defRPr>
            </a:defPPr>
          </a:lstStyle>
          <a:p xmlns:a="http://schemas.openxmlformats.org/drawingml/2006/main">
            <a:pPr algn="l">
              <a:defRPr sz="7200" b="1">
                <a:solidFill>
                  <a:srgbClr val="151515"/>
                </a:solidFill>
                <a:latin typeface="Arial"/>
                <a:ea typeface="Arial"/>
                <a:cs typeface="Arial"/>
              </a:defRPr>
            </a:pPr>
            <a:r>
              <a:rPr sz="7200" b="1">
                <a:solidFill>
                  <a:srgbClr val="151515"/>
                </a:solidFill>
                <a:latin typeface="Arial"/>
                <a:ea typeface="Arial"/>
                <a:cs typeface="Arial"/>
              </a:rPr>
              <a:t>WEAWARE</a:t>
            </a:r>
          </a:p>
        </p:txBody>
      </p:sp>
      <p:sp>
        <p:nvSpPr>
          <p:cNvPr id="4" name="cover-rule">
            <a:extLst xmlns:a="http://schemas.openxmlformats.org/drawingml/2006/main">
              <a:ext uri="{FF2B5EF4-FFF2-40B4-BE49-F238E27FC236}">
                <a16:creationId xmlns:a16="http://schemas.microsoft.com/office/drawing/2014/main" id="{9E95DA44-0500-43DA-9B80-F43C05945DC2}"/>
              </a:ext>
            </a:extLst>
          </p:cNvPr>
          <p:cNvSpPr>
            <a:spLocks xmlns:a="http://schemas.openxmlformats.org/drawingml/2006/main" noGrp="1"/>
          </p:cNvSpPr>
          <p:nvPr/>
        </p:nvSpPr>
        <p:spPr>
          <a:xfrm xmlns:a="http://schemas.openxmlformats.org/drawingml/2006/main">
            <a:off x="914400" y="3190875"/>
            <a:ext cx="1828800" cy="95250"/>
          </a:xfrm>
          <a:prstGeom xmlns:a="http://schemas.openxmlformats.org/drawingml/2006/main" prst="rect">
            <a:avLst/>
          </a:prstGeom>
          <a:solidFill xmlns:a="http://schemas.openxmlformats.org/drawingml/2006/main">
            <a:srgbClr val="151515"/>
          </a:solidFill>
          <a:ln xmlns:a="http://schemas.openxmlformats.org/drawingml/2006/main" w="0">
            <a:solidFill>
              <a:srgbClr val="151515"/>
            </a:solidFill>
            <a:prstDash val="solid"/>
          </a:ln>
        </p:spPr>
      </p:sp>
      <p:sp>
        <p:nvSpPr>
          <p:cNvPr id="5" name="cover-subtitle">
            <a:extLst xmlns:a="http://schemas.openxmlformats.org/drawingml/2006/main">
              <a:ext uri="{FF2B5EF4-FFF2-40B4-BE49-F238E27FC236}">
                <a16:creationId xmlns:a16="http://schemas.microsoft.com/office/drawing/2014/main" id="{CEA5B9C0-6637-43BD-8D4F-090B3E298B24}"/>
              </a:ext>
            </a:extLst>
          </p:cNvPr>
          <p:cNvSpPr>
            <a:spLocks xmlns:a="http://schemas.openxmlformats.org/drawingml/2006/main" noGrp="1"/>
          </p:cNvSpPr>
          <p:nvPr/>
        </p:nvSpPr>
        <p:spPr>
          <a:xfrm xmlns:a="http://schemas.openxmlformats.org/drawingml/2006/main">
            <a:off x="914400" y="3590925"/>
            <a:ext cx="733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151515"/>
                </a:solidFill>
                <a:latin typeface="Arial"/>
                <a:ea typeface="Arial"/>
                <a:cs typeface="Arial"/>
              </a:defRPr>
            </a:defPPr>
          </a:lstStyle>
          <a:p xmlns:a="http://schemas.openxmlformats.org/drawingml/2006/main">
            <a:pPr algn="l">
              <a:defRPr sz="2700" b="1">
                <a:solidFill>
                  <a:srgbClr val="151515"/>
                </a:solidFill>
                <a:latin typeface="Arial"/>
                <a:ea typeface="Arial"/>
                <a:cs typeface="Arial"/>
              </a:defRPr>
            </a:pPr>
            <a:r>
              <a:rPr sz="2700" b="1">
                <a:solidFill>
                  <a:srgbClr val="151515"/>
                </a:solidFill>
                <a:latin typeface="Arial"/>
                <a:ea typeface="Arial"/>
                <a:cs typeface="Arial"/>
              </a:rPr>
              <a:t>A clearer path from many sources</a:t>
            </a:r>
          </a:p>
          <a:p xmlns:a="http://schemas.openxmlformats.org/drawingml/2006/main">
            <a:pPr algn="l">
              <a:defRPr sz="2700" b="1">
                <a:solidFill>
                  <a:srgbClr val="151515"/>
                </a:solidFill>
                <a:latin typeface="Arial"/>
                <a:ea typeface="Arial"/>
                <a:cs typeface="Arial"/>
              </a:defRPr>
            </a:pPr>
            <a:r>
              <a:rPr sz="2700" b="1">
                <a:solidFill>
                  <a:srgbClr val="151515"/>
                </a:solidFill>
                <a:latin typeface="Arial"/>
                <a:ea typeface="Arial"/>
                <a:cs typeface="Arial"/>
              </a:rPr>
              <a:t>to informed reading</a:t>
            </a:r>
          </a:p>
        </p:txBody>
      </p:sp>
      <p:sp>
        <p:nvSpPr>
          <p:cNvPr id="6" name="cover-meta">
            <a:extLst xmlns:a="http://schemas.openxmlformats.org/drawingml/2006/main">
              <a:ext uri="{FF2B5EF4-FFF2-40B4-BE49-F238E27FC236}">
                <a16:creationId xmlns:a16="http://schemas.microsoft.com/office/drawing/2014/main" id="{F60845A6-9DCE-4CE4-B7DB-2D9C833C0171}"/>
              </a:ext>
            </a:extLst>
          </p:cNvPr>
          <p:cNvSpPr>
            <a:spLocks xmlns:a="http://schemas.openxmlformats.org/drawingml/2006/main" noGrp="1"/>
          </p:cNvSpPr>
          <p:nvPr/>
        </p:nvSpPr>
        <p:spPr>
          <a:xfrm xmlns:a="http://schemas.openxmlformats.org/drawingml/2006/main">
            <a:off x="933450" y="52959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51515"/>
                </a:solidFill>
                <a:latin typeface="Arial"/>
                <a:ea typeface="Arial"/>
                <a:cs typeface="Arial"/>
              </a:defRPr>
            </a:defPPr>
          </a:lstStyle>
          <a:p xmlns:a="http://schemas.openxmlformats.org/drawingml/2006/main">
            <a:pPr algn="l">
              <a:defRPr sz="1425" b="1">
                <a:solidFill>
                  <a:srgbClr val="151515"/>
                </a:solidFill>
                <a:latin typeface="Arial"/>
                <a:ea typeface="Arial"/>
                <a:cs typeface="Arial"/>
              </a:defRPr>
            </a:pPr>
            <a:r>
              <a:rPr sz="1425" b="1">
                <a:solidFill>
                  <a:srgbClr val="151515"/>
                </a:solidFill>
                <a:latin typeface="Arial"/>
                <a:ea typeface="Arial"/>
                <a:cs typeface="Arial"/>
              </a:rPr>
              <a:t>AUTOMATION  +  WEBSITE  •  7 MINUTES</a:t>
            </a:r>
          </a:p>
        </p:txBody>
      </p:sp>
      <p:sp>
        <p:nvSpPr>
          <p:cNvPr id="7" name="cover-block-blue">
            <a:extLst xmlns:a="http://schemas.openxmlformats.org/drawingml/2006/main">
              <a:ext uri="{FF2B5EF4-FFF2-40B4-BE49-F238E27FC236}">
                <a16:creationId xmlns:a16="http://schemas.microsoft.com/office/drawing/2014/main" id="{038B2CE8-7161-4EE3-A02E-758BEC696A62}"/>
              </a:ext>
            </a:extLst>
          </p:cNvPr>
          <p:cNvSpPr>
            <a:spLocks xmlns:a="http://schemas.openxmlformats.org/drawingml/2006/main" noGrp="1"/>
          </p:cNvSpPr>
          <p:nvPr/>
        </p:nvSpPr>
        <p:spPr>
          <a:xfrm xmlns:a="http://schemas.openxmlformats.org/drawingml/2006/main">
            <a:off x="9401175" y="1619250"/>
            <a:ext cx="1495425" cy="1495425"/>
          </a:xfrm>
          <a:prstGeom xmlns:a="http://schemas.openxmlformats.org/drawingml/2006/main" prst="rect">
            <a:avLst/>
          </a:prstGeom>
          <a:solidFill xmlns:a="http://schemas.openxmlformats.org/drawingml/2006/main">
            <a:srgbClr val="2758E8"/>
          </a:solidFill>
          <a:ln xmlns:a="http://schemas.openxmlformats.org/drawingml/2006/main" w="38100">
            <a:solidFill>
              <a:srgbClr val="151515"/>
            </a:solidFill>
            <a:prstDash val="solid"/>
          </a:ln>
        </p:spPr>
      </p:sp>
      <p:sp>
        <p:nvSpPr>
          <p:cNvPr id="8" name="cover-block-paper">
            <a:extLst xmlns:a="http://schemas.openxmlformats.org/drawingml/2006/main">
              <a:ext uri="{FF2B5EF4-FFF2-40B4-BE49-F238E27FC236}">
                <a16:creationId xmlns:a16="http://schemas.microsoft.com/office/drawing/2014/main" id="{193CFCD5-75C8-4292-BF17-C4A65DD879FB}"/>
              </a:ext>
            </a:extLst>
          </p:cNvPr>
          <p:cNvSpPr>
            <a:spLocks xmlns:a="http://schemas.openxmlformats.org/drawingml/2006/main" noGrp="1"/>
          </p:cNvSpPr>
          <p:nvPr/>
        </p:nvSpPr>
        <p:spPr>
          <a:xfrm xmlns:a="http://schemas.openxmlformats.org/drawingml/2006/main">
            <a:off x="10077450" y="2295525"/>
            <a:ext cx="1495425" cy="1495425"/>
          </a:xfrm>
          <a:prstGeom xmlns:a="http://schemas.openxmlformats.org/drawingml/2006/main" prst="rect">
            <a:avLst/>
          </a:prstGeom>
          <a:solidFill xmlns:a="http://schemas.openxmlformats.org/drawingml/2006/main">
            <a:srgbClr val="F4F0E8"/>
          </a:solidFill>
          <a:ln xmlns:a="http://schemas.openxmlformats.org/drawingml/2006/main" w="38100">
            <a:solidFill>
              <a:srgbClr val="151515"/>
            </a:solidFill>
            <a:prstDash val="solid"/>
          </a:ln>
        </p:spPr>
      </p:sp>
      <p:sp>
        <p:nvSpPr>
          <p:cNvPr id="9" name="cover-mark">
            <a:extLst xmlns:a="http://schemas.openxmlformats.org/drawingml/2006/main">
              <a:ext uri="{FF2B5EF4-FFF2-40B4-BE49-F238E27FC236}">
                <a16:creationId xmlns:a16="http://schemas.microsoft.com/office/drawing/2014/main" id="{EB6950FC-74DE-4C28-92C2-F13336F9C862}"/>
              </a:ext>
            </a:extLst>
          </p:cNvPr>
          <p:cNvSpPr>
            <a:spLocks xmlns:a="http://schemas.openxmlformats.org/drawingml/2006/main" noGrp="1"/>
          </p:cNvSpPr>
          <p:nvPr/>
        </p:nvSpPr>
        <p:spPr>
          <a:xfrm xmlns:a="http://schemas.openxmlformats.org/drawingml/2006/main">
            <a:off x="9544050" y="1733550"/>
            <a:ext cx="12001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5850" b="1">
                <a:solidFill>
                  <a:srgbClr val="FFFFFF"/>
                </a:solidFill>
                <a:latin typeface="Arial"/>
                <a:ea typeface="Arial"/>
                <a:cs typeface="Arial"/>
              </a:defRPr>
            </a:defPPr>
          </a:lstStyle>
          <a:p xmlns:a="http://schemas.openxmlformats.org/drawingml/2006/main">
            <a:pPr algn="ctr">
              <a:defRPr sz="5850" b="1">
                <a:solidFill>
                  <a:srgbClr val="FFFFFF"/>
                </a:solidFill>
                <a:latin typeface="Arial"/>
                <a:ea typeface="Arial"/>
                <a:cs typeface="Arial"/>
              </a:defRPr>
            </a:pPr>
            <a:r>
              <a:rPr sz="5850" b="1">
                <a:solidFill>
                  <a:srgbClr val="FFFFFF"/>
                </a:solidFill>
                <a:latin typeface="Arial"/>
                <a:ea typeface="Arial"/>
                <a:cs typeface="Arial"/>
              </a:rPr>
              <a:t>W</a:t>
            </a:r>
          </a:p>
        </p:txBody>
      </p:sp>
      <p:sp>
        <p:nvSpPr>
          <p:cNvPr id="10" name="cover-mark-label">
            <a:extLst xmlns:a="http://schemas.openxmlformats.org/drawingml/2006/main">
              <a:ext uri="{FF2B5EF4-FFF2-40B4-BE49-F238E27FC236}">
                <a16:creationId xmlns:a16="http://schemas.microsoft.com/office/drawing/2014/main" id="{4BF3FF51-127F-4195-86D5-C2818D317253}"/>
              </a:ext>
            </a:extLst>
          </p:cNvPr>
          <p:cNvSpPr>
            <a:spLocks xmlns:a="http://schemas.openxmlformats.org/drawingml/2006/main" noGrp="1"/>
          </p:cNvSpPr>
          <p:nvPr/>
        </p:nvSpPr>
        <p:spPr>
          <a:xfrm xmlns:a="http://schemas.openxmlformats.org/drawingml/2006/main">
            <a:off x="9982200" y="4048125"/>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151515"/>
                </a:solidFill>
                <a:latin typeface="Arial"/>
                <a:ea typeface="Arial"/>
                <a:cs typeface="Arial"/>
              </a:defRPr>
            </a:defPPr>
          </a:lstStyle>
          <a:p xmlns:a="http://schemas.openxmlformats.org/drawingml/2006/main">
            <a:pPr algn="ctr">
              <a:defRPr sz="1425" b="1">
                <a:solidFill>
                  <a:srgbClr val="151515"/>
                </a:solidFill>
                <a:latin typeface="Arial"/>
                <a:ea typeface="Arial"/>
                <a:cs typeface="Arial"/>
              </a:defRPr>
            </a:pPr>
            <a:r>
              <a:rPr sz="1425" b="1">
                <a:solidFill>
                  <a:srgbClr val="151515"/>
                </a:solidFill>
                <a:latin typeface="Arial"/>
                <a:ea typeface="Arial"/>
                <a:cs typeface="Arial"/>
              </a:rPr>
              <a:t>SOURCES</a:t>
            </a:r>
          </a:p>
          <a:p xmlns:a="http://schemas.openxmlformats.org/drawingml/2006/main">
            <a:pPr algn="ctr">
              <a:defRPr sz="1425" b="1">
                <a:solidFill>
                  <a:srgbClr val="151515"/>
                </a:solidFill>
                <a:latin typeface="Arial"/>
                <a:ea typeface="Arial"/>
                <a:cs typeface="Arial"/>
              </a:defRPr>
            </a:pPr>
            <a:r>
              <a:rPr sz="1425" b="1">
                <a:solidFill>
                  <a:srgbClr val="151515"/>
                </a:solidFill>
                <a:latin typeface="Arial"/>
                <a:ea typeface="Arial"/>
                <a:cs typeface="Arial"/>
              </a:rPr>
              <a:t>SHOWN</a:t>
            </a:r>
          </a:p>
        </p:txBody>
      </p:sp>
    </p:spTree>
    <p:extLst>
      <p:ext uri="{BB962C8B-B14F-4D97-AF65-F5344CB8AC3E}">
        <p14:creationId xmlns:p14="http://schemas.microsoft.com/office/powerpoint/2010/main" val="1487894965"/>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7" name="section-kicker">
            <a:extLst xmlns:a="http://schemas.openxmlformats.org/drawingml/2006/main">
              <a:ext uri="{FF2B5EF4-FFF2-40B4-BE49-F238E27FC236}">
                <a16:creationId xmlns:a16="http://schemas.microsoft.com/office/drawing/2014/main" id="{8276EE4B-916B-4418-8F8D-1732CEA86FBF}"/>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AUTOMATION + WEBSITE</a:t>
            </a:r>
          </a:p>
        </p:txBody>
      </p:sp>
      <p:sp>
        <p:nvSpPr>
          <p:cNvPr id="2" name="slide-title">
            <a:extLst xmlns:a="http://schemas.openxmlformats.org/drawingml/2006/main">
              <a:ext uri="{FF2B5EF4-FFF2-40B4-BE49-F238E27FC236}">
                <a16:creationId xmlns:a16="http://schemas.microsoft.com/office/drawing/2014/main" id="{6B2CE5A1-C3C7-4642-8704-D5EBCA44DA20}"/>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Make disagreement visible</a:t>
            </a:r>
          </a:p>
        </p:txBody>
      </p:sp>
      <p:sp>
        <p:nvSpPr>
          <p:cNvPr id="3" name="">
            <a:extLst xmlns:a="http://schemas.openxmlformats.org/drawingml/2006/main">
              <a:ext uri="{FF2B5EF4-FFF2-40B4-BE49-F238E27FC236}">
                <a16:creationId xmlns:a16="http://schemas.microsoft.com/office/drawing/2014/main" id="{53D76FED-20D4-4BD9-B898-36586D550147}"/>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619EC05A-ACE4-4BDA-82E2-4C7BA57CB8D4}"/>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08271395-456E-466D-86C9-AFE6ADFE0FC1}"/>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02 / 09</a:t>
            </a:r>
          </a:p>
        </p:txBody>
      </p:sp>
      <p:sp>
        <p:nvSpPr>
          <p:cNvPr id="6" name="purpose-intro">
            <a:extLst xmlns:a="http://schemas.openxmlformats.org/drawingml/2006/main">
              <a:ext uri="{FF2B5EF4-FFF2-40B4-BE49-F238E27FC236}">
                <a16:creationId xmlns:a16="http://schemas.microsoft.com/office/drawing/2014/main" id="{A63E92C8-9EEC-4B37-9766-3FCF58B949F2}"/>
              </a:ext>
            </a:extLst>
          </p:cNvPr>
          <p:cNvSpPr>
            <a:spLocks xmlns:a="http://schemas.openxmlformats.org/drawingml/2006/main" noGrp="1"/>
          </p:cNvSpPr>
          <p:nvPr/>
        </p:nvSpPr>
        <p:spPr>
          <a:xfrm xmlns:a="http://schemas.openxmlformats.org/drawingml/2006/main">
            <a:off x="609600" y="1619250"/>
            <a:ext cx="45720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5B5B55"/>
                </a:solidFill>
                <a:latin typeface="Arial"/>
                <a:ea typeface="Arial"/>
                <a:cs typeface="Arial"/>
              </a:defRPr>
            </a:defPPr>
          </a:lstStyle>
          <a:p xmlns:a="http://schemas.openxmlformats.org/drawingml/2006/main">
            <a:pPr algn="l">
              <a:defRPr sz="2250" b="1">
                <a:solidFill>
                  <a:srgbClr val="5B5B55"/>
                </a:solidFill>
                <a:latin typeface="Arial"/>
                <a:ea typeface="Arial"/>
                <a:cs typeface="Arial"/>
              </a:defRPr>
            </a:pPr>
            <a:r>
              <a:rPr sz="2250" b="1">
                <a:solidFill>
                  <a:srgbClr val="5B5B55"/>
                </a:solidFill>
                <a:latin typeface="Arial"/>
                <a:ea typeface="Arial"/>
                <a:cs typeface="Arial"/>
              </a:rPr>
              <a:t>The product</a:t>
            </a:r>
          </a:p>
          <a:p xmlns:a="http://schemas.openxmlformats.org/drawingml/2006/main">
            <a:pPr algn="l">
              <a:defRPr sz="2250" b="1">
                <a:solidFill>
                  <a:srgbClr val="5B5B55"/>
                </a:solidFill>
                <a:latin typeface="Arial"/>
                <a:ea typeface="Arial"/>
                <a:cs typeface="Arial"/>
              </a:defRPr>
            </a:pPr>
            <a:r>
              <a:rPr sz="2250" b="1">
                <a:solidFill>
                  <a:srgbClr val="5B5B55"/>
                </a:solidFill>
                <a:latin typeface="Arial"/>
                <a:ea typeface="Arial"/>
                <a:cs typeface="Arial"/>
              </a:rPr>
              <a:t>starts with a question:</a:t>
            </a:r>
          </a:p>
        </p:txBody>
      </p:sp>
      <p:sp>
        <p:nvSpPr>
          <p:cNvPr id="7" name="purpose-question">
            <a:extLst xmlns:a="http://schemas.openxmlformats.org/drawingml/2006/main">
              <a:ext uri="{FF2B5EF4-FFF2-40B4-BE49-F238E27FC236}">
                <a16:creationId xmlns:a16="http://schemas.microsoft.com/office/drawing/2014/main" id="{606B885D-8009-4AC9-B0B4-ED67B796A72E}"/>
              </a:ext>
            </a:extLst>
          </p:cNvPr>
          <p:cNvSpPr>
            <a:spLocks xmlns:a="http://schemas.openxmlformats.org/drawingml/2006/main" noGrp="1"/>
          </p:cNvSpPr>
          <p:nvPr/>
        </p:nvSpPr>
        <p:spPr>
          <a:xfrm xmlns:a="http://schemas.openxmlformats.org/drawingml/2006/main">
            <a:off x="609600" y="3067050"/>
            <a:ext cx="47625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151515"/>
                </a:solidFill>
                <a:latin typeface="Arial"/>
                <a:ea typeface="Arial"/>
                <a:cs typeface="Arial"/>
              </a:defRPr>
            </a:defPPr>
          </a:lstStyle>
          <a:p xmlns:a="http://schemas.openxmlformats.org/drawingml/2006/main">
            <a:pPr algn="l">
              <a:defRPr sz="3450" b="1">
                <a:solidFill>
                  <a:srgbClr val="151515"/>
                </a:solidFill>
                <a:latin typeface="Arial"/>
                <a:ea typeface="Arial"/>
                <a:cs typeface="Arial"/>
              </a:defRPr>
            </a:pPr>
            <a:r>
              <a:rPr sz="3450" b="1">
                <a:solidFill>
                  <a:srgbClr val="151515"/>
                </a:solidFill>
                <a:latin typeface="Arial"/>
                <a:ea typeface="Arial"/>
                <a:cs typeface="Arial"/>
              </a:rPr>
              <a:t>What do multiple</a:t>
            </a:r>
          </a:p>
          <a:p xmlns:a="http://schemas.openxmlformats.org/drawingml/2006/main">
            <a:pPr algn="l">
              <a:defRPr sz="3450" b="1">
                <a:solidFill>
                  <a:srgbClr val="151515"/>
                </a:solidFill>
                <a:latin typeface="Arial"/>
                <a:ea typeface="Arial"/>
                <a:cs typeface="Arial"/>
              </a:defRPr>
            </a:pPr>
            <a:r>
              <a:rPr sz="3450" b="1">
                <a:solidFill>
                  <a:srgbClr val="151515"/>
                </a:solidFill>
                <a:latin typeface="Arial"/>
                <a:ea typeface="Arial"/>
                <a:cs typeface="Arial"/>
              </a:rPr>
              <a:t>sources agree on?</a:t>
            </a:r>
          </a:p>
        </p:txBody>
      </p:sp>
      <p:sp>
        <p:nvSpPr>
          <p:cNvPr id="8" name="purpose-panel">
            <a:extLst xmlns:a="http://schemas.openxmlformats.org/drawingml/2006/main">
              <a:ext uri="{FF2B5EF4-FFF2-40B4-BE49-F238E27FC236}">
                <a16:creationId xmlns:a16="http://schemas.microsoft.com/office/drawing/2014/main" id="{DE62C92E-B6DB-403F-A538-32D1F22FD919}"/>
              </a:ext>
            </a:extLst>
          </p:cNvPr>
          <p:cNvSpPr>
            <a:spLocks xmlns:a="http://schemas.openxmlformats.org/drawingml/2006/main" noGrp="1"/>
          </p:cNvSpPr>
          <p:nvPr/>
        </p:nvSpPr>
        <p:spPr>
          <a:xfrm xmlns:a="http://schemas.openxmlformats.org/drawingml/2006/main">
            <a:off x="6210300" y="1676400"/>
            <a:ext cx="5372100" cy="3752850"/>
          </a:xfrm>
          <a:prstGeom xmlns:a="http://schemas.openxmlformats.org/drawingml/2006/main" prst="rect">
            <a:avLst/>
          </a:prstGeom>
          <a:solidFill xmlns:a="http://schemas.openxmlformats.org/drawingml/2006/main">
            <a:srgbClr val="FFFFFF"/>
          </a:solidFill>
          <a:ln xmlns:a="http://schemas.openxmlformats.org/drawingml/2006/main" w="38100">
            <a:solidFill>
              <a:srgbClr val="151515"/>
            </a:solidFill>
            <a:prstDash val="solid"/>
          </a:ln>
        </p:spPr>
      </p:sp>
      <p:sp>
        <p:nvSpPr>
          <p:cNvPr id="9" name="purpose-step-1">
            <a:extLst xmlns:a="http://schemas.openxmlformats.org/drawingml/2006/main">
              <a:ext uri="{FF2B5EF4-FFF2-40B4-BE49-F238E27FC236}">
                <a16:creationId xmlns:a16="http://schemas.microsoft.com/office/drawing/2014/main" id="{4D2C9484-2CC3-4C4C-AE02-1084C1D0D589}"/>
              </a:ext>
            </a:extLst>
          </p:cNvPr>
          <p:cNvSpPr>
            <a:spLocks xmlns:a="http://schemas.openxmlformats.org/drawingml/2006/main" noGrp="1"/>
          </p:cNvSpPr>
          <p:nvPr/>
        </p:nvSpPr>
        <p:spPr>
          <a:xfrm xmlns:a="http://schemas.openxmlformats.org/drawingml/2006/main">
            <a:off x="6572250" y="1952625"/>
            <a:ext cx="451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GATHER</a:t>
            </a:r>
          </a:p>
        </p:txBody>
      </p:sp>
      <p:sp>
        <p:nvSpPr>
          <p:cNvPr id="10" name="purpose-copy-1">
            <a:extLst xmlns:a="http://schemas.openxmlformats.org/drawingml/2006/main">
              <a:ext uri="{FF2B5EF4-FFF2-40B4-BE49-F238E27FC236}">
                <a16:creationId xmlns:a16="http://schemas.microsoft.com/office/drawing/2014/main" id="{8C864A04-2447-418C-8449-A98E803915BD}"/>
              </a:ext>
            </a:extLst>
          </p:cNvPr>
          <p:cNvSpPr>
            <a:spLocks xmlns:a="http://schemas.openxmlformats.org/drawingml/2006/main" noGrp="1"/>
          </p:cNvSpPr>
          <p:nvPr/>
        </p:nvSpPr>
        <p:spPr>
          <a:xfrm xmlns:a="http://schemas.openxmlformats.org/drawingml/2006/main">
            <a:off x="6572250" y="23050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51515"/>
                </a:solidFill>
                <a:latin typeface="Arial"/>
                <a:ea typeface="Arial"/>
                <a:cs typeface="Arial"/>
              </a:defRPr>
            </a:defPPr>
          </a:lstStyle>
          <a:p xmlns:a="http://schemas.openxmlformats.org/drawingml/2006/main">
            <a:pPr algn="l">
              <a:defRPr sz="1875" b="1">
                <a:solidFill>
                  <a:srgbClr val="151515"/>
                </a:solidFill>
                <a:latin typeface="Arial"/>
                <a:ea typeface="Arial"/>
                <a:cs typeface="Arial"/>
              </a:defRPr>
            </a:pPr>
            <a:r>
              <a:rPr sz="1875" b="1">
                <a:solidFill>
                  <a:srgbClr val="151515"/>
                </a:solidFill>
                <a:latin typeface="Arial"/>
                <a:ea typeface="Arial"/>
                <a:cs typeface="Arial"/>
              </a:rPr>
              <a:t>Coverage from distinct outlets</a:t>
            </a:r>
          </a:p>
        </p:txBody>
      </p:sp>
      <p:sp>
        <p:nvSpPr>
          <p:cNvPr id="11" name="">
            <a:extLst xmlns:a="http://schemas.openxmlformats.org/drawingml/2006/main">
              <a:ext uri="{FF2B5EF4-FFF2-40B4-BE49-F238E27FC236}">
                <a16:creationId xmlns:a16="http://schemas.microsoft.com/office/drawing/2014/main" id="{D43FE67D-EDF5-4E4B-8D8F-ED8C612AE00A}"/>
              </a:ext>
            </a:extLst>
          </p:cNvPr>
          <p:cNvSpPr>
            <a:spLocks xmlns:a="http://schemas.openxmlformats.org/drawingml/2006/main" noGrp="1"/>
          </p:cNvSpPr>
          <p:nvPr/>
        </p:nvSpPr>
        <p:spPr>
          <a:xfrm xmlns:a="http://schemas.openxmlformats.org/drawingml/2006/main">
            <a:off x="6572250" y="2962275"/>
            <a:ext cx="4505325"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12" name="purpose-step-2">
            <a:extLst xmlns:a="http://schemas.openxmlformats.org/drawingml/2006/main">
              <a:ext uri="{FF2B5EF4-FFF2-40B4-BE49-F238E27FC236}">
                <a16:creationId xmlns:a16="http://schemas.microsoft.com/office/drawing/2014/main" id="{E4A1B73D-29D8-4339-AED8-149BF497123F}"/>
              </a:ext>
            </a:extLst>
          </p:cNvPr>
          <p:cNvSpPr>
            <a:spLocks xmlns:a="http://schemas.openxmlformats.org/drawingml/2006/main" noGrp="1"/>
          </p:cNvSpPr>
          <p:nvPr/>
        </p:nvSpPr>
        <p:spPr>
          <a:xfrm xmlns:a="http://schemas.openxmlformats.org/drawingml/2006/main">
            <a:off x="6572250" y="3171825"/>
            <a:ext cx="451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COMPARE</a:t>
            </a:r>
          </a:p>
        </p:txBody>
      </p:sp>
      <p:sp>
        <p:nvSpPr>
          <p:cNvPr id="13" name="purpose-copy-2">
            <a:extLst xmlns:a="http://schemas.openxmlformats.org/drawingml/2006/main">
              <a:ext uri="{FF2B5EF4-FFF2-40B4-BE49-F238E27FC236}">
                <a16:creationId xmlns:a16="http://schemas.microsoft.com/office/drawing/2014/main" id="{1B581C39-EB53-4E8F-A7EE-ED181EEB7F57}"/>
              </a:ext>
            </a:extLst>
          </p:cNvPr>
          <p:cNvSpPr>
            <a:spLocks xmlns:a="http://schemas.openxmlformats.org/drawingml/2006/main" noGrp="1"/>
          </p:cNvSpPr>
          <p:nvPr/>
        </p:nvSpPr>
        <p:spPr>
          <a:xfrm xmlns:a="http://schemas.openxmlformats.org/drawingml/2006/main">
            <a:off x="6572250" y="35242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51515"/>
                </a:solidFill>
                <a:latin typeface="Arial"/>
                <a:ea typeface="Arial"/>
                <a:cs typeface="Arial"/>
              </a:defRPr>
            </a:defPPr>
          </a:lstStyle>
          <a:p xmlns:a="http://schemas.openxmlformats.org/drawingml/2006/main">
            <a:pPr algn="l">
              <a:defRPr sz="1875" b="1">
                <a:solidFill>
                  <a:srgbClr val="151515"/>
                </a:solidFill>
                <a:latin typeface="Arial"/>
                <a:ea typeface="Arial"/>
                <a:cs typeface="Arial"/>
              </a:defRPr>
            </a:pPr>
            <a:r>
              <a:rPr sz="1875" b="1">
                <a:solidFill>
                  <a:srgbClr val="151515"/>
                </a:solidFill>
                <a:latin typeface="Arial"/>
                <a:ea typeface="Arial"/>
                <a:cs typeface="Arial"/>
              </a:rPr>
              <a:t>Agreement, context, and disputes</a:t>
            </a:r>
          </a:p>
        </p:txBody>
      </p:sp>
      <p:sp>
        <p:nvSpPr>
          <p:cNvPr id="14" name="">
            <a:extLst xmlns:a="http://schemas.openxmlformats.org/drawingml/2006/main">
              <a:ext uri="{FF2B5EF4-FFF2-40B4-BE49-F238E27FC236}">
                <a16:creationId xmlns:a16="http://schemas.microsoft.com/office/drawing/2014/main" id="{E518DACE-A18D-4A73-B121-516E5059BD40}"/>
              </a:ext>
            </a:extLst>
          </p:cNvPr>
          <p:cNvSpPr>
            <a:spLocks xmlns:a="http://schemas.openxmlformats.org/drawingml/2006/main" noGrp="1"/>
          </p:cNvSpPr>
          <p:nvPr/>
        </p:nvSpPr>
        <p:spPr>
          <a:xfrm xmlns:a="http://schemas.openxmlformats.org/drawingml/2006/main">
            <a:off x="6572250" y="4181475"/>
            <a:ext cx="4505325"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15" name="purpose-step-3">
            <a:extLst xmlns:a="http://schemas.openxmlformats.org/drawingml/2006/main">
              <a:ext uri="{FF2B5EF4-FFF2-40B4-BE49-F238E27FC236}">
                <a16:creationId xmlns:a16="http://schemas.microsoft.com/office/drawing/2014/main" id="{E16682B5-B3DD-4C3E-97F6-2890CCFBA35A}"/>
              </a:ext>
            </a:extLst>
          </p:cNvPr>
          <p:cNvSpPr>
            <a:spLocks xmlns:a="http://schemas.openxmlformats.org/drawingml/2006/main" noGrp="1"/>
          </p:cNvSpPr>
          <p:nvPr/>
        </p:nvSpPr>
        <p:spPr>
          <a:xfrm xmlns:a="http://schemas.openxmlformats.org/drawingml/2006/main">
            <a:off x="6572250" y="4391025"/>
            <a:ext cx="451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SHOW THE RECEIPTS</a:t>
            </a:r>
          </a:p>
        </p:txBody>
      </p:sp>
      <p:sp>
        <p:nvSpPr>
          <p:cNvPr id="16" name="purpose-copy-3">
            <a:extLst xmlns:a="http://schemas.openxmlformats.org/drawingml/2006/main">
              <a:ext uri="{FF2B5EF4-FFF2-40B4-BE49-F238E27FC236}">
                <a16:creationId xmlns:a16="http://schemas.microsoft.com/office/drawing/2014/main" id="{96D878AC-3B69-45AE-B348-14F720265FCB}"/>
              </a:ext>
            </a:extLst>
          </p:cNvPr>
          <p:cNvSpPr>
            <a:spLocks xmlns:a="http://schemas.openxmlformats.org/drawingml/2006/main" noGrp="1"/>
          </p:cNvSpPr>
          <p:nvPr/>
        </p:nvSpPr>
        <p:spPr>
          <a:xfrm xmlns:a="http://schemas.openxmlformats.org/drawingml/2006/main">
            <a:off x="6572250" y="47434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51515"/>
                </a:solidFill>
                <a:latin typeface="Arial"/>
                <a:ea typeface="Arial"/>
                <a:cs typeface="Arial"/>
              </a:defRPr>
            </a:defPPr>
          </a:lstStyle>
          <a:p xmlns:a="http://schemas.openxmlformats.org/drawingml/2006/main">
            <a:pPr algn="l">
              <a:defRPr sz="1875" b="1">
                <a:solidFill>
                  <a:srgbClr val="151515"/>
                </a:solidFill>
                <a:latin typeface="Arial"/>
                <a:ea typeface="Arial"/>
                <a:cs typeface="Arial"/>
              </a:defRPr>
            </a:pPr>
            <a:r>
              <a:rPr sz="1875" b="1">
                <a:solidFill>
                  <a:srgbClr val="151515"/>
                </a:solidFill>
                <a:latin typeface="Arial"/>
                <a:ea typeface="Arial"/>
                <a:cs typeface="Arial"/>
              </a:rPr>
              <a:t>Claims linked to their sources</a:t>
            </a:r>
          </a:p>
        </p:txBody>
      </p:sp>
    </p:spTree>
    <p:extLst>
      <p:ext uri="{BB962C8B-B14F-4D97-AF65-F5344CB8AC3E}">
        <p14:creationId xmlns:p14="http://schemas.microsoft.com/office/powerpoint/2010/main" val="1515962360"/>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7" name="section-kicker">
            <a:extLst xmlns:a="http://schemas.openxmlformats.org/drawingml/2006/main">
              <a:ext uri="{FF2B5EF4-FFF2-40B4-BE49-F238E27FC236}">
                <a16:creationId xmlns:a16="http://schemas.microsoft.com/office/drawing/2014/main" id="{A211CDFC-D20D-4196-A02C-EE3080B7681F}"/>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AUTOMATION + WEBSITE</a:t>
            </a:r>
          </a:p>
        </p:txBody>
      </p:sp>
      <p:sp>
        <p:nvSpPr>
          <p:cNvPr id="2" name="slide-title">
            <a:extLst xmlns:a="http://schemas.openxmlformats.org/drawingml/2006/main">
              <a:ext uri="{FF2B5EF4-FFF2-40B4-BE49-F238E27FC236}">
                <a16:creationId xmlns:a16="http://schemas.microsoft.com/office/drawing/2014/main" id="{9453137E-4B7B-4048-B369-49BDA91DBA14}"/>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One pipeline prepares the evidence</a:t>
            </a:r>
          </a:p>
        </p:txBody>
      </p:sp>
      <p:sp>
        <p:nvSpPr>
          <p:cNvPr id="3" name="">
            <a:extLst xmlns:a="http://schemas.openxmlformats.org/drawingml/2006/main">
              <a:ext uri="{FF2B5EF4-FFF2-40B4-BE49-F238E27FC236}">
                <a16:creationId xmlns:a16="http://schemas.microsoft.com/office/drawing/2014/main" id="{B6E27F21-D1F3-4F2F-91F9-3241FC555B91}"/>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5AE09636-07D0-44C3-AD6D-AB3922C566CA}"/>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FC124A79-6573-48D1-B8FA-D3AFB44C95FD}"/>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03 / 09</a:t>
            </a:r>
          </a:p>
        </p:txBody>
      </p:sp>
      <p:sp>
        <p:nvSpPr>
          <p:cNvPr id="6" name="ingest-subtitle">
            <a:extLst xmlns:a="http://schemas.openxmlformats.org/drawingml/2006/main">
              <a:ext uri="{FF2B5EF4-FFF2-40B4-BE49-F238E27FC236}">
                <a16:creationId xmlns:a16="http://schemas.microsoft.com/office/drawing/2014/main" id="{656E06D8-CDFD-47C4-89B0-D25107219A51}"/>
              </a:ext>
            </a:extLst>
          </p:cNvPr>
          <p:cNvSpPr>
            <a:spLocks xmlns:a="http://schemas.openxmlformats.org/drawingml/2006/main" noGrp="1"/>
          </p:cNvSpPr>
          <p:nvPr/>
        </p:nvSpPr>
        <p:spPr>
          <a:xfrm xmlns:a="http://schemas.openxmlformats.org/drawingml/2006/main">
            <a:off x="609600" y="1485900"/>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2758E8"/>
                </a:solidFill>
                <a:latin typeface="Arial"/>
                <a:ea typeface="Arial"/>
                <a:cs typeface="Arial"/>
              </a:defRPr>
            </a:defPPr>
          </a:lstStyle>
          <a:p xmlns:a="http://schemas.openxmlformats.org/drawingml/2006/main">
            <a:pPr algn="l">
              <a:defRPr sz="1275" b="1">
                <a:solidFill>
                  <a:srgbClr val="2758E8"/>
                </a:solidFill>
                <a:latin typeface="Arial"/>
                <a:ea typeface="Arial"/>
                <a:cs typeface="Arial"/>
              </a:defRPr>
            </a:pPr>
            <a:r>
              <a:rPr sz="1275" b="1">
                <a:solidFill>
                  <a:srgbClr val="2758E8"/>
                </a:solidFill>
                <a:latin typeface="Arial"/>
                <a:ea typeface="Arial"/>
                <a:cs typeface="Arial"/>
              </a:rPr>
              <a:t>NEWS IN  →  CLEAN, GROUP, AND CHECK  →  STORY RECORDS</a:t>
            </a:r>
          </a:p>
        </p:txBody>
      </p:sp>
      <p:sp>
        <p:nvSpPr>
          <p:cNvPr id="7" name="ingest-stage-1">
            <a:extLst xmlns:a="http://schemas.openxmlformats.org/drawingml/2006/main">
              <a:ext uri="{FF2B5EF4-FFF2-40B4-BE49-F238E27FC236}">
                <a16:creationId xmlns:a16="http://schemas.microsoft.com/office/drawing/2014/main" id="{98EC881E-E312-4C84-8CC7-7A07B5761797}"/>
              </a:ext>
            </a:extLst>
          </p:cNvPr>
          <p:cNvSpPr>
            <a:spLocks xmlns:a="http://schemas.openxmlformats.org/drawingml/2006/main" noGrp="1"/>
          </p:cNvSpPr>
          <p:nvPr/>
        </p:nvSpPr>
        <p:spPr>
          <a:xfrm xmlns:a="http://schemas.openxmlformats.org/drawingml/2006/main">
            <a:off x="609600" y="2095500"/>
            <a:ext cx="1952625" cy="26670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8" name="ingest-n-0">
            <a:extLst xmlns:a="http://schemas.openxmlformats.org/drawingml/2006/main">
              <a:ext uri="{FF2B5EF4-FFF2-40B4-BE49-F238E27FC236}">
                <a16:creationId xmlns:a16="http://schemas.microsoft.com/office/drawing/2014/main" id="{C6B75E7E-92E3-4F3C-AF7C-D151D8701232}"/>
              </a:ext>
            </a:extLst>
          </p:cNvPr>
          <p:cNvSpPr>
            <a:spLocks xmlns:a="http://schemas.openxmlformats.org/drawingml/2006/main" noGrp="1"/>
          </p:cNvSpPr>
          <p:nvPr/>
        </p:nvSpPr>
        <p:spPr>
          <a:xfrm xmlns:a="http://schemas.openxmlformats.org/drawingml/2006/main">
            <a:off x="781050" y="22669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2758E8"/>
                </a:solidFill>
                <a:latin typeface="Arial"/>
                <a:ea typeface="Arial"/>
                <a:cs typeface="Arial"/>
              </a:defRPr>
            </a:defPPr>
          </a:lstStyle>
          <a:p xmlns:a="http://schemas.openxmlformats.org/drawingml/2006/main">
            <a:pPr algn="l">
              <a:defRPr sz="1950" b="1">
                <a:solidFill>
                  <a:srgbClr val="2758E8"/>
                </a:solidFill>
                <a:latin typeface="Arial"/>
                <a:ea typeface="Arial"/>
                <a:cs typeface="Arial"/>
              </a:defRPr>
            </a:pPr>
            <a:r>
              <a:rPr sz="1950" b="1">
                <a:solidFill>
                  <a:srgbClr val="2758E8"/>
                </a:solidFill>
                <a:latin typeface="Arial"/>
                <a:ea typeface="Arial"/>
                <a:cs typeface="Arial"/>
              </a:rPr>
              <a:t>01</a:t>
            </a:r>
          </a:p>
        </p:txBody>
      </p:sp>
      <p:sp>
        <p:nvSpPr>
          <p:cNvPr id="9" name="ingest-h-0">
            <a:extLst xmlns:a="http://schemas.openxmlformats.org/drawingml/2006/main">
              <a:ext uri="{FF2B5EF4-FFF2-40B4-BE49-F238E27FC236}">
                <a16:creationId xmlns:a16="http://schemas.microsoft.com/office/drawing/2014/main" id="{600A50B5-F3BA-4014-95C1-A7EEC5FBD926}"/>
              </a:ext>
            </a:extLst>
          </p:cNvPr>
          <p:cNvSpPr>
            <a:spLocks xmlns:a="http://schemas.openxmlformats.org/drawingml/2006/main" noGrp="1"/>
          </p:cNvSpPr>
          <p:nvPr/>
        </p:nvSpPr>
        <p:spPr>
          <a:xfrm xmlns:a="http://schemas.openxmlformats.org/drawingml/2006/main">
            <a:off x="781050" y="2800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51515"/>
                </a:solidFill>
                <a:latin typeface="Arial"/>
                <a:ea typeface="Arial"/>
                <a:cs typeface="Arial"/>
              </a:defRPr>
            </a:defPPr>
          </a:lstStyle>
          <a:p xmlns:a="http://schemas.openxmlformats.org/drawingml/2006/main">
            <a:pPr algn="l">
              <a:defRPr sz="1425" b="1">
                <a:solidFill>
                  <a:srgbClr val="151515"/>
                </a:solidFill>
                <a:latin typeface="Arial"/>
                <a:ea typeface="Arial"/>
                <a:cs typeface="Arial"/>
              </a:defRPr>
            </a:pPr>
            <a:r>
              <a:rPr sz="1425" b="1">
                <a:solidFill>
                  <a:srgbClr val="151515"/>
                </a:solidFill>
                <a:latin typeface="Arial"/>
                <a:ea typeface="Arial"/>
                <a:cs typeface="Arial"/>
              </a:rPr>
              <a:t>COLLECT</a:t>
            </a:r>
          </a:p>
        </p:txBody>
      </p:sp>
      <p:sp>
        <p:nvSpPr>
          <p:cNvPr id="10" name="ingest-b-0">
            <a:extLst xmlns:a="http://schemas.openxmlformats.org/drawingml/2006/main">
              <a:ext uri="{FF2B5EF4-FFF2-40B4-BE49-F238E27FC236}">
                <a16:creationId xmlns:a16="http://schemas.microsoft.com/office/drawing/2014/main" id="{EFE6F68A-74AA-4E53-B652-053A19D85CE7}"/>
              </a:ext>
            </a:extLst>
          </p:cNvPr>
          <p:cNvSpPr>
            <a:spLocks xmlns:a="http://schemas.openxmlformats.org/drawingml/2006/main" noGrp="1"/>
          </p:cNvSpPr>
          <p:nvPr/>
        </p:nvSpPr>
        <p:spPr>
          <a:xfrm xmlns:a="http://schemas.openxmlformats.org/drawingml/2006/main">
            <a:off x="781050" y="3371850"/>
            <a:ext cx="161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51515"/>
                </a:solidFill>
                <a:latin typeface="Arial"/>
                <a:ea typeface="Arial"/>
                <a:cs typeface="Arial"/>
              </a:defRPr>
            </a:defPPr>
          </a:lstStyle>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RSS feeds</a:t>
            </a:r>
          </a:p>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News APIs</a:t>
            </a:r>
          </a:p>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Bluesky</a:t>
            </a:r>
          </a:p>
        </p:txBody>
      </p:sp>
      <p:sp>
        <p:nvSpPr>
          <p:cNvPr id="11" name="">
            <a:extLst xmlns:a="http://schemas.openxmlformats.org/drawingml/2006/main">
              <a:ext uri="{FF2B5EF4-FFF2-40B4-BE49-F238E27FC236}">
                <a16:creationId xmlns:a16="http://schemas.microsoft.com/office/drawing/2014/main" id="{12ED404B-ABD7-442E-9D96-AD33BC830363}"/>
              </a:ext>
            </a:extLst>
          </p:cNvPr>
          <p:cNvSpPr>
            <a:spLocks xmlns:a="http://schemas.openxmlformats.org/drawingml/2006/main" noGrp="1"/>
          </p:cNvSpPr>
          <p:nvPr/>
        </p:nvSpPr>
        <p:spPr>
          <a:xfrm xmlns:a="http://schemas.openxmlformats.org/drawingml/2006/main">
            <a:off x="2562225" y="3419475"/>
            <a:ext cx="285750" cy="0"/>
          </a:xfrm>
          <a:prstGeom xmlns:a="http://schemas.openxmlformats.org/drawingml/2006/main" prst="line">
            <a:avLst/>
          </a:prstGeom>
          <a:noFill xmlns:a="http://schemas.openxmlformats.org/drawingml/2006/main"/>
          <a:ln xmlns:a="http://schemas.openxmlformats.org/drawingml/2006/main" w="28575">
            <a:solidFill>
              <a:srgbClr val="151515"/>
            </a:solidFill>
            <a:prstDash val="solid"/>
          </a:ln>
        </p:spPr>
      </p:sp>
      <p:sp>
        <p:nvSpPr>
          <p:cNvPr id="12" name="ingest-arrow-0">
            <a:extLst xmlns:a="http://schemas.openxmlformats.org/drawingml/2006/main">
              <a:ext uri="{FF2B5EF4-FFF2-40B4-BE49-F238E27FC236}">
                <a16:creationId xmlns:a16="http://schemas.microsoft.com/office/drawing/2014/main" id="{EEDAC468-D4DE-46CB-92F3-7D9A3AAE61B0}"/>
              </a:ext>
            </a:extLst>
          </p:cNvPr>
          <p:cNvSpPr>
            <a:spLocks xmlns:a="http://schemas.openxmlformats.org/drawingml/2006/main" noGrp="1"/>
          </p:cNvSpPr>
          <p:nvPr/>
        </p:nvSpPr>
        <p:spPr>
          <a:xfrm xmlns:a="http://schemas.openxmlformats.org/drawingml/2006/main">
            <a:off x="2590800" y="32194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51515"/>
                </a:solidFill>
                <a:latin typeface="Arial"/>
                <a:ea typeface="Arial"/>
                <a:cs typeface="Arial"/>
              </a:defRPr>
            </a:defPPr>
          </a:lstStyle>
          <a:p xmlns:a="http://schemas.openxmlformats.org/drawingml/2006/main">
            <a:pPr algn="l">
              <a:defRPr sz="2550" b="1">
                <a:solidFill>
                  <a:srgbClr val="151515"/>
                </a:solidFill>
                <a:latin typeface="Arial"/>
                <a:ea typeface="Arial"/>
                <a:cs typeface="Arial"/>
              </a:defRPr>
            </a:pPr>
            <a:r>
              <a:rPr sz="2550" b="1">
                <a:solidFill>
                  <a:srgbClr val="151515"/>
                </a:solidFill>
                <a:latin typeface="Arial"/>
                <a:ea typeface="Arial"/>
                <a:cs typeface="Arial"/>
              </a:rPr>
              <a:t>›</a:t>
            </a:r>
          </a:p>
        </p:txBody>
      </p:sp>
      <p:sp>
        <p:nvSpPr>
          <p:cNvPr id="13" name="ingest-stage-2">
            <a:extLst xmlns:a="http://schemas.openxmlformats.org/drawingml/2006/main">
              <a:ext uri="{FF2B5EF4-FFF2-40B4-BE49-F238E27FC236}">
                <a16:creationId xmlns:a16="http://schemas.microsoft.com/office/drawing/2014/main" id="{42C74E96-894D-4386-8314-3A5378C27801}"/>
              </a:ext>
            </a:extLst>
          </p:cNvPr>
          <p:cNvSpPr>
            <a:spLocks xmlns:a="http://schemas.openxmlformats.org/drawingml/2006/main" noGrp="1"/>
          </p:cNvSpPr>
          <p:nvPr/>
        </p:nvSpPr>
        <p:spPr>
          <a:xfrm xmlns:a="http://schemas.openxmlformats.org/drawingml/2006/main">
            <a:off x="2847975" y="2095500"/>
            <a:ext cx="1952625" cy="26670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14" name="ingest-n-1">
            <a:extLst xmlns:a="http://schemas.openxmlformats.org/drawingml/2006/main">
              <a:ext uri="{FF2B5EF4-FFF2-40B4-BE49-F238E27FC236}">
                <a16:creationId xmlns:a16="http://schemas.microsoft.com/office/drawing/2014/main" id="{9149010C-7FED-4EF7-83E6-7D16367584E1}"/>
              </a:ext>
            </a:extLst>
          </p:cNvPr>
          <p:cNvSpPr>
            <a:spLocks xmlns:a="http://schemas.openxmlformats.org/drawingml/2006/main" noGrp="1"/>
          </p:cNvSpPr>
          <p:nvPr/>
        </p:nvSpPr>
        <p:spPr>
          <a:xfrm xmlns:a="http://schemas.openxmlformats.org/drawingml/2006/main">
            <a:off x="3019425" y="22669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2758E8"/>
                </a:solidFill>
                <a:latin typeface="Arial"/>
                <a:ea typeface="Arial"/>
                <a:cs typeface="Arial"/>
              </a:defRPr>
            </a:defPPr>
          </a:lstStyle>
          <a:p xmlns:a="http://schemas.openxmlformats.org/drawingml/2006/main">
            <a:pPr algn="l">
              <a:defRPr sz="1950" b="1">
                <a:solidFill>
                  <a:srgbClr val="2758E8"/>
                </a:solidFill>
                <a:latin typeface="Arial"/>
                <a:ea typeface="Arial"/>
                <a:cs typeface="Arial"/>
              </a:defRPr>
            </a:pPr>
            <a:r>
              <a:rPr sz="1950" b="1">
                <a:solidFill>
                  <a:srgbClr val="2758E8"/>
                </a:solidFill>
                <a:latin typeface="Arial"/>
                <a:ea typeface="Arial"/>
                <a:cs typeface="Arial"/>
              </a:rPr>
              <a:t>02</a:t>
            </a:r>
          </a:p>
        </p:txBody>
      </p:sp>
      <p:sp>
        <p:nvSpPr>
          <p:cNvPr id="15" name="ingest-h-1">
            <a:extLst xmlns:a="http://schemas.openxmlformats.org/drawingml/2006/main">
              <a:ext uri="{FF2B5EF4-FFF2-40B4-BE49-F238E27FC236}">
                <a16:creationId xmlns:a16="http://schemas.microsoft.com/office/drawing/2014/main" id="{7067779F-09E1-4376-8700-4E6EA58D182F}"/>
              </a:ext>
            </a:extLst>
          </p:cNvPr>
          <p:cNvSpPr>
            <a:spLocks xmlns:a="http://schemas.openxmlformats.org/drawingml/2006/main" noGrp="1"/>
          </p:cNvSpPr>
          <p:nvPr/>
        </p:nvSpPr>
        <p:spPr>
          <a:xfrm xmlns:a="http://schemas.openxmlformats.org/drawingml/2006/main">
            <a:off x="3019425" y="2800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51515"/>
                </a:solidFill>
                <a:latin typeface="Arial"/>
                <a:ea typeface="Arial"/>
                <a:cs typeface="Arial"/>
              </a:defRPr>
            </a:defPPr>
          </a:lstStyle>
          <a:p xmlns:a="http://schemas.openxmlformats.org/drawingml/2006/main">
            <a:pPr algn="l">
              <a:defRPr sz="1425" b="1">
                <a:solidFill>
                  <a:srgbClr val="151515"/>
                </a:solidFill>
                <a:latin typeface="Arial"/>
                <a:ea typeface="Arial"/>
                <a:cs typeface="Arial"/>
              </a:defRPr>
            </a:pPr>
            <a:r>
              <a:rPr sz="1425" b="1">
                <a:solidFill>
                  <a:srgbClr val="151515"/>
                </a:solidFill>
                <a:latin typeface="Arial"/>
                <a:ea typeface="Arial"/>
                <a:cs typeface="Arial"/>
              </a:rPr>
              <a:t>NORMALIZE</a:t>
            </a:r>
          </a:p>
        </p:txBody>
      </p:sp>
      <p:sp>
        <p:nvSpPr>
          <p:cNvPr id="16" name="ingest-b-1">
            <a:extLst xmlns:a="http://schemas.openxmlformats.org/drawingml/2006/main">
              <a:ext uri="{FF2B5EF4-FFF2-40B4-BE49-F238E27FC236}">
                <a16:creationId xmlns:a16="http://schemas.microsoft.com/office/drawing/2014/main" id="{2A4003AD-F481-4DA8-8518-ABE8D291AFEB}"/>
              </a:ext>
            </a:extLst>
          </p:cNvPr>
          <p:cNvSpPr>
            <a:spLocks xmlns:a="http://schemas.openxmlformats.org/drawingml/2006/main" noGrp="1"/>
          </p:cNvSpPr>
          <p:nvPr/>
        </p:nvSpPr>
        <p:spPr>
          <a:xfrm xmlns:a="http://schemas.openxmlformats.org/drawingml/2006/main">
            <a:off x="3019425" y="3371850"/>
            <a:ext cx="161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51515"/>
                </a:solidFill>
                <a:latin typeface="Arial"/>
                <a:ea typeface="Arial"/>
                <a:cs typeface="Arial"/>
              </a:defRPr>
            </a:defPPr>
          </a:lstStyle>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Common item</a:t>
            </a:r>
          </a:p>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shape</a:t>
            </a:r>
          </a:p>
        </p:txBody>
      </p:sp>
      <p:sp>
        <p:nvSpPr>
          <p:cNvPr id="17" name="">
            <a:extLst xmlns:a="http://schemas.openxmlformats.org/drawingml/2006/main">
              <a:ext uri="{FF2B5EF4-FFF2-40B4-BE49-F238E27FC236}">
                <a16:creationId xmlns:a16="http://schemas.microsoft.com/office/drawing/2014/main" id="{2FD3F5EA-7E10-4BCC-9FF1-60A66FA84245}"/>
              </a:ext>
            </a:extLst>
          </p:cNvPr>
          <p:cNvSpPr>
            <a:spLocks xmlns:a="http://schemas.openxmlformats.org/drawingml/2006/main" noGrp="1"/>
          </p:cNvSpPr>
          <p:nvPr/>
        </p:nvSpPr>
        <p:spPr>
          <a:xfrm xmlns:a="http://schemas.openxmlformats.org/drawingml/2006/main">
            <a:off x="4800600" y="3419475"/>
            <a:ext cx="285750" cy="0"/>
          </a:xfrm>
          <a:prstGeom xmlns:a="http://schemas.openxmlformats.org/drawingml/2006/main" prst="line">
            <a:avLst/>
          </a:prstGeom>
          <a:noFill xmlns:a="http://schemas.openxmlformats.org/drawingml/2006/main"/>
          <a:ln xmlns:a="http://schemas.openxmlformats.org/drawingml/2006/main" w="28575">
            <a:solidFill>
              <a:srgbClr val="151515"/>
            </a:solidFill>
            <a:prstDash val="solid"/>
          </a:ln>
        </p:spPr>
      </p:sp>
      <p:sp>
        <p:nvSpPr>
          <p:cNvPr id="18" name="ingest-arrow-1">
            <a:extLst xmlns:a="http://schemas.openxmlformats.org/drawingml/2006/main">
              <a:ext uri="{FF2B5EF4-FFF2-40B4-BE49-F238E27FC236}">
                <a16:creationId xmlns:a16="http://schemas.microsoft.com/office/drawing/2014/main" id="{3725200A-9FAC-4122-BC1F-8BFE14CFC3AA}"/>
              </a:ext>
            </a:extLst>
          </p:cNvPr>
          <p:cNvSpPr>
            <a:spLocks xmlns:a="http://schemas.openxmlformats.org/drawingml/2006/main" noGrp="1"/>
          </p:cNvSpPr>
          <p:nvPr/>
        </p:nvSpPr>
        <p:spPr>
          <a:xfrm xmlns:a="http://schemas.openxmlformats.org/drawingml/2006/main">
            <a:off x="4829175" y="32194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51515"/>
                </a:solidFill>
                <a:latin typeface="Arial"/>
                <a:ea typeface="Arial"/>
                <a:cs typeface="Arial"/>
              </a:defRPr>
            </a:defPPr>
          </a:lstStyle>
          <a:p xmlns:a="http://schemas.openxmlformats.org/drawingml/2006/main">
            <a:pPr algn="l">
              <a:defRPr sz="2550" b="1">
                <a:solidFill>
                  <a:srgbClr val="151515"/>
                </a:solidFill>
                <a:latin typeface="Arial"/>
                <a:ea typeface="Arial"/>
                <a:cs typeface="Arial"/>
              </a:defRPr>
            </a:pPr>
            <a:r>
              <a:rPr sz="2550" b="1">
                <a:solidFill>
                  <a:srgbClr val="151515"/>
                </a:solidFill>
                <a:latin typeface="Arial"/>
                <a:ea typeface="Arial"/>
                <a:cs typeface="Arial"/>
              </a:rPr>
              <a:t>›</a:t>
            </a:r>
          </a:p>
        </p:txBody>
      </p:sp>
      <p:sp>
        <p:nvSpPr>
          <p:cNvPr id="19" name="ingest-stage-3">
            <a:extLst xmlns:a="http://schemas.openxmlformats.org/drawingml/2006/main">
              <a:ext uri="{FF2B5EF4-FFF2-40B4-BE49-F238E27FC236}">
                <a16:creationId xmlns:a16="http://schemas.microsoft.com/office/drawing/2014/main" id="{E39630C2-BF26-4359-80E7-82130097AFEC}"/>
              </a:ext>
            </a:extLst>
          </p:cNvPr>
          <p:cNvSpPr>
            <a:spLocks xmlns:a="http://schemas.openxmlformats.org/drawingml/2006/main" noGrp="1"/>
          </p:cNvSpPr>
          <p:nvPr/>
        </p:nvSpPr>
        <p:spPr>
          <a:xfrm xmlns:a="http://schemas.openxmlformats.org/drawingml/2006/main">
            <a:off x="5086350" y="2095500"/>
            <a:ext cx="1952625" cy="26670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20" name="ingest-n-2">
            <a:extLst xmlns:a="http://schemas.openxmlformats.org/drawingml/2006/main">
              <a:ext uri="{FF2B5EF4-FFF2-40B4-BE49-F238E27FC236}">
                <a16:creationId xmlns:a16="http://schemas.microsoft.com/office/drawing/2014/main" id="{A611BD1D-DEA3-406B-81BD-51BDE452118C}"/>
              </a:ext>
            </a:extLst>
          </p:cNvPr>
          <p:cNvSpPr>
            <a:spLocks xmlns:a="http://schemas.openxmlformats.org/drawingml/2006/main" noGrp="1"/>
          </p:cNvSpPr>
          <p:nvPr/>
        </p:nvSpPr>
        <p:spPr>
          <a:xfrm xmlns:a="http://schemas.openxmlformats.org/drawingml/2006/main">
            <a:off x="5257800" y="22669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2758E8"/>
                </a:solidFill>
                <a:latin typeface="Arial"/>
                <a:ea typeface="Arial"/>
                <a:cs typeface="Arial"/>
              </a:defRPr>
            </a:defPPr>
          </a:lstStyle>
          <a:p xmlns:a="http://schemas.openxmlformats.org/drawingml/2006/main">
            <a:pPr algn="l">
              <a:defRPr sz="1950" b="1">
                <a:solidFill>
                  <a:srgbClr val="2758E8"/>
                </a:solidFill>
                <a:latin typeface="Arial"/>
                <a:ea typeface="Arial"/>
                <a:cs typeface="Arial"/>
              </a:defRPr>
            </a:pPr>
            <a:r>
              <a:rPr sz="1950" b="1">
                <a:solidFill>
                  <a:srgbClr val="2758E8"/>
                </a:solidFill>
                <a:latin typeface="Arial"/>
                <a:ea typeface="Arial"/>
                <a:cs typeface="Arial"/>
              </a:rPr>
              <a:t>03</a:t>
            </a:r>
          </a:p>
        </p:txBody>
      </p:sp>
      <p:sp>
        <p:nvSpPr>
          <p:cNvPr id="21" name="ingest-h-2">
            <a:extLst xmlns:a="http://schemas.openxmlformats.org/drawingml/2006/main">
              <a:ext uri="{FF2B5EF4-FFF2-40B4-BE49-F238E27FC236}">
                <a16:creationId xmlns:a16="http://schemas.microsoft.com/office/drawing/2014/main" id="{706020FA-4217-49B1-864B-186C5A77A280}"/>
              </a:ext>
            </a:extLst>
          </p:cNvPr>
          <p:cNvSpPr>
            <a:spLocks xmlns:a="http://schemas.openxmlformats.org/drawingml/2006/main" noGrp="1"/>
          </p:cNvSpPr>
          <p:nvPr/>
        </p:nvSpPr>
        <p:spPr>
          <a:xfrm xmlns:a="http://schemas.openxmlformats.org/drawingml/2006/main">
            <a:off x="5257800" y="2800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51515"/>
                </a:solidFill>
                <a:latin typeface="Arial"/>
                <a:ea typeface="Arial"/>
                <a:cs typeface="Arial"/>
              </a:defRPr>
            </a:defPPr>
          </a:lstStyle>
          <a:p xmlns:a="http://schemas.openxmlformats.org/drawingml/2006/main">
            <a:pPr algn="l">
              <a:defRPr sz="1425" b="1">
                <a:solidFill>
                  <a:srgbClr val="151515"/>
                </a:solidFill>
                <a:latin typeface="Arial"/>
                <a:ea typeface="Arial"/>
                <a:cs typeface="Arial"/>
              </a:defRPr>
            </a:pPr>
            <a:r>
              <a:rPr sz="1425" b="1">
                <a:solidFill>
                  <a:srgbClr val="151515"/>
                </a:solidFill>
                <a:latin typeface="Arial"/>
                <a:ea typeface="Arial"/>
                <a:cs typeface="Arial"/>
              </a:rPr>
              <a:t>DEDUP</a:t>
            </a:r>
          </a:p>
        </p:txBody>
      </p:sp>
      <p:sp>
        <p:nvSpPr>
          <p:cNvPr id="22" name="ingest-b-2">
            <a:extLst xmlns:a="http://schemas.openxmlformats.org/drawingml/2006/main">
              <a:ext uri="{FF2B5EF4-FFF2-40B4-BE49-F238E27FC236}">
                <a16:creationId xmlns:a16="http://schemas.microsoft.com/office/drawing/2014/main" id="{EF56933E-9131-4BEA-9E88-D8693689ED44}"/>
              </a:ext>
            </a:extLst>
          </p:cNvPr>
          <p:cNvSpPr>
            <a:spLocks xmlns:a="http://schemas.openxmlformats.org/drawingml/2006/main" noGrp="1"/>
          </p:cNvSpPr>
          <p:nvPr/>
        </p:nvSpPr>
        <p:spPr>
          <a:xfrm xmlns:a="http://schemas.openxmlformats.org/drawingml/2006/main">
            <a:off x="5257800" y="3371850"/>
            <a:ext cx="161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51515"/>
                </a:solidFill>
                <a:latin typeface="Arial"/>
                <a:ea typeface="Arial"/>
                <a:cs typeface="Arial"/>
              </a:defRPr>
            </a:defPPr>
          </a:lstStyle>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Remove repeat</a:t>
            </a:r>
          </a:p>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URLs per source</a:t>
            </a:r>
          </a:p>
        </p:txBody>
      </p:sp>
      <p:sp>
        <p:nvSpPr>
          <p:cNvPr id="23" name="">
            <a:extLst xmlns:a="http://schemas.openxmlformats.org/drawingml/2006/main">
              <a:ext uri="{FF2B5EF4-FFF2-40B4-BE49-F238E27FC236}">
                <a16:creationId xmlns:a16="http://schemas.microsoft.com/office/drawing/2014/main" id="{B9A92A0F-6956-463A-BAC8-4BA4CC0B7B85}"/>
              </a:ext>
            </a:extLst>
          </p:cNvPr>
          <p:cNvSpPr>
            <a:spLocks xmlns:a="http://schemas.openxmlformats.org/drawingml/2006/main" noGrp="1"/>
          </p:cNvSpPr>
          <p:nvPr/>
        </p:nvSpPr>
        <p:spPr>
          <a:xfrm xmlns:a="http://schemas.openxmlformats.org/drawingml/2006/main">
            <a:off x="7038975" y="3419475"/>
            <a:ext cx="285750" cy="0"/>
          </a:xfrm>
          <a:prstGeom xmlns:a="http://schemas.openxmlformats.org/drawingml/2006/main" prst="line">
            <a:avLst/>
          </a:prstGeom>
          <a:noFill xmlns:a="http://schemas.openxmlformats.org/drawingml/2006/main"/>
          <a:ln xmlns:a="http://schemas.openxmlformats.org/drawingml/2006/main" w="28575">
            <a:solidFill>
              <a:srgbClr val="151515"/>
            </a:solidFill>
            <a:prstDash val="solid"/>
          </a:ln>
        </p:spPr>
      </p:sp>
      <p:sp>
        <p:nvSpPr>
          <p:cNvPr id="24" name="ingest-arrow-2">
            <a:extLst xmlns:a="http://schemas.openxmlformats.org/drawingml/2006/main">
              <a:ext uri="{FF2B5EF4-FFF2-40B4-BE49-F238E27FC236}">
                <a16:creationId xmlns:a16="http://schemas.microsoft.com/office/drawing/2014/main" id="{EB2FCBAA-F7F1-4A44-B137-6358941EE544}"/>
              </a:ext>
            </a:extLst>
          </p:cNvPr>
          <p:cNvSpPr>
            <a:spLocks xmlns:a="http://schemas.openxmlformats.org/drawingml/2006/main" noGrp="1"/>
          </p:cNvSpPr>
          <p:nvPr/>
        </p:nvSpPr>
        <p:spPr>
          <a:xfrm xmlns:a="http://schemas.openxmlformats.org/drawingml/2006/main">
            <a:off x="7067550" y="32194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51515"/>
                </a:solidFill>
                <a:latin typeface="Arial"/>
                <a:ea typeface="Arial"/>
                <a:cs typeface="Arial"/>
              </a:defRPr>
            </a:defPPr>
          </a:lstStyle>
          <a:p xmlns:a="http://schemas.openxmlformats.org/drawingml/2006/main">
            <a:pPr algn="l">
              <a:defRPr sz="2550" b="1">
                <a:solidFill>
                  <a:srgbClr val="151515"/>
                </a:solidFill>
                <a:latin typeface="Arial"/>
                <a:ea typeface="Arial"/>
                <a:cs typeface="Arial"/>
              </a:defRPr>
            </a:pPr>
            <a:r>
              <a:rPr sz="2550" b="1">
                <a:solidFill>
                  <a:srgbClr val="151515"/>
                </a:solidFill>
                <a:latin typeface="Arial"/>
                <a:ea typeface="Arial"/>
                <a:cs typeface="Arial"/>
              </a:rPr>
              <a:t>›</a:t>
            </a:r>
          </a:p>
        </p:txBody>
      </p:sp>
      <p:sp>
        <p:nvSpPr>
          <p:cNvPr id="25" name="ingest-stage-4">
            <a:extLst xmlns:a="http://schemas.openxmlformats.org/drawingml/2006/main">
              <a:ext uri="{FF2B5EF4-FFF2-40B4-BE49-F238E27FC236}">
                <a16:creationId xmlns:a16="http://schemas.microsoft.com/office/drawing/2014/main" id="{3A0963D2-288F-4F91-AC54-569B92D63B76}"/>
              </a:ext>
            </a:extLst>
          </p:cNvPr>
          <p:cNvSpPr>
            <a:spLocks xmlns:a="http://schemas.openxmlformats.org/drawingml/2006/main" noGrp="1"/>
          </p:cNvSpPr>
          <p:nvPr/>
        </p:nvSpPr>
        <p:spPr>
          <a:xfrm xmlns:a="http://schemas.openxmlformats.org/drawingml/2006/main">
            <a:off x="7324725" y="2095500"/>
            <a:ext cx="1952625" cy="2667000"/>
          </a:xfrm>
          <a:prstGeom xmlns:a="http://schemas.openxmlformats.org/drawingml/2006/main" prst="rect">
            <a:avLst/>
          </a:prstGeom>
          <a:solidFill xmlns:a="http://schemas.openxmlformats.org/drawingml/2006/main">
            <a:srgbClr val="E9FF42"/>
          </a:solidFill>
          <a:ln xmlns:a="http://schemas.openxmlformats.org/drawingml/2006/main" w="28575">
            <a:solidFill>
              <a:srgbClr val="151515"/>
            </a:solidFill>
            <a:prstDash val="solid"/>
          </a:ln>
        </p:spPr>
      </p:sp>
      <p:sp>
        <p:nvSpPr>
          <p:cNvPr id="26" name="ingest-n-3">
            <a:extLst xmlns:a="http://schemas.openxmlformats.org/drawingml/2006/main">
              <a:ext uri="{FF2B5EF4-FFF2-40B4-BE49-F238E27FC236}">
                <a16:creationId xmlns:a16="http://schemas.microsoft.com/office/drawing/2014/main" id="{29D800B7-A925-4424-AF03-539D4FA28E57}"/>
              </a:ext>
            </a:extLst>
          </p:cNvPr>
          <p:cNvSpPr>
            <a:spLocks xmlns:a="http://schemas.openxmlformats.org/drawingml/2006/main" noGrp="1"/>
          </p:cNvSpPr>
          <p:nvPr/>
        </p:nvSpPr>
        <p:spPr>
          <a:xfrm xmlns:a="http://schemas.openxmlformats.org/drawingml/2006/main">
            <a:off x="7496175" y="22669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2758E8"/>
                </a:solidFill>
                <a:latin typeface="Arial"/>
                <a:ea typeface="Arial"/>
                <a:cs typeface="Arial"/>
              </a:defRPr>
            </a:defPPr>
          </a:lstStyle>
          <a:p xmlns:a="http://schemas.openxmlformats.org/drawingml/2006/main">
            <a:pPr algn="l">
              <a:defRPr sz="1950" b="1">
                <a:solidFill>
                  <a:srgbClr val="2758E8"/>
                </a:solidFill>
                <a:latin typeface="Arial"/>
                <a:ea typeface="Arial"/>
                <a:cs typeface="Arial"/>
              </a:defRPr>
            </a:pPr>
            <a:r>
              <a:rPr sz="1950" b="1">
                <a:solidFill>
                  <a:srgbClr val="2758E8"/>
                </a:solidFill>
                <a:latin typeface="Arial"/>
                <a:ea typeface="Arial"/>
                <a:cs typeface="Arial"/>
              </a:rPr>
              <a:t>04</a:t>
            </a:r>
          </a:p>
        </p:txBody>
      </p:sp>
      <p:sp>
        <p:nvSpPr>
          <p:cNvPr id="27" name="ingest-h-3">
            <a:extLst xmlns:a="http://schemas.openxmlformats.org/drawingml/2006/main">
              <a:ext uri="{FF2B5EF4-FFF2-40B4-BE49-F238E27FC236}">
                <a16:creationId xmlns:a16="http://schemas.microsoft.com/office/drawing/2014/main" id="{74886BF7-9D92-4AE0-86D7-7265A55B6045}"/>
              </a:ext>
            </a:extLst>
          </p:cNvPr>
          <p:cNvSpPr>
            <a:spLocks xmlns:a="http://schemas.openxmlformats.org/drawingml/2006/main" noGrp="1"/>
          </p:cNvSpPr>
          <p:nvPr/>
        </p:nvSpPr>
        <p:spPr>
          <a:xfrm xmlns:a="http://schemas.openxmlformats.org/drawingml/2006/main">
            <a:off x="7496175" y="2800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51515"/>
                </a:solidFill>
                <a:latin typeface="Arial"/>
                <a:ea typeface="Arial"/>
                <a:cs typeface="Arial"/>
              </a:defRPr>
            </a:defPPr>
          </a:lstStyle>
          <a:p xmlns:a="http://schemas.openxmlformats.org/drawingml/2006/main">
            <a:pPr algn="l">
              <a:defRPr sz="1425" b="1">
                <a:solidFill>
                  <a:srgbClr val="151515"/>
                </a:solidFill>
                <a:latin typeface="Arial"/>
                <a:ea typeface="Arial"/>
                <a:cs typeface="Arial"/>
              </a:defRPr>
            </a:pPr>
            <a:r>
              <a:rPr sz="1425" b="1">
                <a:solidFill>
                  <a:srgbClr val="151515"/>
                </a:solidFill>
                <a:latin typeface="Arial"/>
                <a:ea typeface="Arial"/>
                <a:cs typeface="Arial"/>
              </a:rPr>
              <a:t>CLUSTER</a:t>
            </a:r>
          </a:p>
        </p:txBody>
      </p:sp>
      <p:sp>
        <p:nvSpPr>
          <p:cNvPr id="28" name="ingest-b-3">
            <a:extLst xmlns:a="http://schemas.openxmlformats.org/drawingml/2006/main">
              <a:ext uri="{FF2B5EF4-FFF2-40B4-BE49-F238E27FC236}">
                <a16:creationId xmlns:a16="http://schemas.microsoft.com/office/drawing/2014/main" id="{F591A4F3-ED98-4A43-B1CF-48BE319813F1}"/>
              </a:ext>
            </a:extLst>
          </p:cNvPr>
          <p:cNvSpPr>
            <a:spLocks xmlns:a="http://schemas.openxmlformats.org/drawingml/2006/main" noGrp="1"/>
          </p:cNvSpPr>
          <p:nvPr/>
        </p:nvSpPr>
        <p:spPr>
          <a:xfrm xmlns:a="http://schemas.openxmlformats.org/drawingml/2006/main">
            <a:off x="7496175" y="3371850"/>
            <a:ext cx="161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51515"/>
                </a:solidFill>
                <a:latin typeface="Arial"/>
                <a:ea typeface="Arial"/>
                <a:cs typeface="Arial"/>
              </a:defRPr>
            </a:defPPr>
          </a:lstStyle>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Group likely</a:t>
            </a:r>
          </a:p>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same-story items</a:t>
            </a:r>
          </a:p>
        </p:txBody>
      </p:sp>
      <p:sp>
        <p:nvSpPr>
          <p:cNvPr id="29" name="">
            <a:extLst xmlns:a="http://schemas.openxmlformats.org/drawingml/2006/main">
              <a:ext uri="{FF2B5EF4-FFF2-40B4-BE49-F238E27FC236}">
                <a16:creationId xmlns:a16="http://schemas.microsoft.com/office/drawing/2014/main" id="{9A15348E-2370-4A80-BA32-3C80DF853CB3}"/>
              </a:ext>
            </a:extLst>
          </p:cNvPr>
          <p:cNvSpPr>
            <a:spLocks xmlns:a="http://schemas.openxmlformats.org/drawingml/2006/main" noGrp="1"/>
          </p:cNvSpPr>
          <p:nvPr/>
        </p:nvSpPr>
        <p:spPr>
          <a:xfrm xmlns:a="http://schemas.openxmlformats.org/drawingml/2006/main">
            <a:off x="9277350" y="3419475"/>
            <a:ext cx="285750" cy="0"/>
          </a:xfrm>
          <a:prstGeom xmlns:a="http://schemas.openxmlformats.org/drawingml/2006/main" prst="line">
            <a:avLst/>
          </a:prstGeom>
          <a:noFill xmlns:a="http://schemas.openxmlformats.org/drawingml/2006/main"/>
          <a:ln xmlns:a="http://schemas.openxmlformats.org/drawingml/2006/main" w="28575">
            <a:solidFill>
              <a:srgbClr val="151515"/>
            </a:solidFill>
            <a:prstDash val="solid"/>
          </a:ln>
        </p:spPr>
      </p:sp>
      <p:sp>
        <p:nvSpPr>
          <p:cNvPr id="30" name="ingest-arrow-3">
            <a:extLst xmlns:a="http://schemas.openxmlformats.org/drawingml/2006/main">
              <a:ext uri="{FF2B5EF4-FFF2-40B4-BE49-F238E27FC236}">
                <a16:creationId xmlns:a16="http://schemas.microsoft.com/office/drawing/2014/main" id="{6065C9D4-C263-4C87-825B-2C6C5E99D9B3}"/>
              </a:ext>
            </a:extLst>
          </p:cNvPr>
          <p:cNvSpPr>
            <a:spLocks xmlns:a="http://schemas.openxmlformats.org/drawingml/2006/main" noGrp="1"/>
          </p:cNvSpPr>
          <p:nvPr/>
        </p:nvSpPr>
        <p:spPr>
          <a:xfrm xmlns:a="http://schemas.openxmlformats.org/drawingml/2006/main">
            <a:off x="9305925" y="3219450"/>
            <a:ext cx="228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51515"/>
                </a:solidFill>
                <a:latin typeface="Arial"/>
                <a:ea typeface="Arial"/>
                <a:cs typeface="Arial"/>
              </a:defRPr>
            </a:defPPr>
          </a:lstStyle>
          <a:p xmlns:a="http://schemas.openxmlformats.org/drawingml/2006/main">
            <a:pPr algn="l">
              <a:defRPr sz="2550" b="1">
                <a:solidFill>
                  <a:srgbClr val="151515"/>
                </a:solidFill>
                <a:latin typeface="Arial"/>
                <a:ea typeface="Arial"/>
                <a:cs typeface="Arial"/>
              </a:defRPr>
            </a:pPr>
            <a:r>
              <a:rPr sz="2550" b="1">
                <a:solidFill>
                  <a:srgbClr val="151515"/>
                </a:solidFill>
                <a:latin typeface="Arial"/>
                <a:ea typeface="Arial"/>
                <a:cs typeface="Arial"/>
              </a:rPr>
              <a:t>›</a:t>
            </a:r>
          </a:p>
        </p:txBody>
      </p:sp>
      <p:sp>
        <p:nvSpPr>
          <p:cNvPr id="31" name="ingest-stage-5">
            <a:extLst xmlns:a="http://schemas.openxmlformats.org/drawingml/2006/main">
              <a:ext uri="{FF2B5EF4-FFF2-40B4-BE49-F238E27FC236}">
                <a16:creationId xmlns:a16="http://schemas.microsoft.com/office/drawing/2014/main" id="{18A08694-76D7-48F9-90A7-B3CD32C2327C}"/>
              </a:ext>
            </a:extLst>
          </p:cNvPr>
          <p:cNvSpPr>
            <a:spLocks xmlns:a="http://schemas.openxmlformats.org/drawingml/2006/main" noGrp="1"/>
          </p:cNvSpPr>
          <p:nvPr/>
        </p:nvSpPr>
        <p:spPr>
          <a:xfrm xmlns:a="http://schemas.openxmlformats.org/drawingml/2006/main">
            <a:off x="9563100" y="2095500"/>
            <a:ext cx="1952625" cy="26670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32" name="ingest-n-4">
            <a:extLst xmlns:a="http://schemas.openxmlformats.org/drawingml/2006/main">
              <a:ext uri="{FF2B5EF4-FFF2-40B4-BE49-F238E27FC236}">
                <a16:creationId xmlns:a16="http://schemas.microsoft.com/office/drawing/2014/main" id="{E78971E6-EBBB-48F5-8181-86A45464F88A}"/>
              </a:ext>
            </a:extLst>
          </p:cNvPr>
          <p:cNvSpPr>
            <a:spLocks xmlns:a="http://schemas.openxmlformats.org/drawingml/2006/main" noGrp="1"/>
          </p:cNvSpPr>
          <p:nvPr/>
        </p:nvSpPr>
        <p:spPr>
          <a:xfrm xmlns:a="http://schemas.openxmlformats.org/drawingml/2006/main">
            <a:off x="9734550" y="22669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2758E8"/>
                </a:solidFill>
                <a:latin typeface="Arial"/>
                <a:ea typeface="Arial"/>
                <a:cs typeface="Arial"/>
              </a:defRPr>
            </a:defPPr>
          </a:lstStyle>
          <a:p xmlns:a="http://schemas.openxmlformats.org/drawingml/2006/main">
            <a:pPr algn="l">
              <a:defRPr sz="1950" b="1">
                <a:solidFill>
                  <a:srgbClr val="2758E8"/>
                </a:solidFill>
                <a:latin typeface="Arial"/>
                <a:ea typeface="Arial"/>
                <a:cs typeface="Arial"/>
              </a:defRPr>
            </a:pPr>
            <a:r>
              <a:rPr sz="1950" b="1">
                <a:solidFill>
                  <a:srgbClr val="2758E8"/>
                </a:solidFill>
                <a:latin typeface="Arial"/>
                <a:ea typeface="Arial"/>
                <a:cs typeface="Arial"/>
              </a:rPr>
              <a:t>05</a:t>
            </a:r>
          </a:p>
        </p:txBody>
      </p:sp>
      <p:sp>
        <p:nvSpPr>
          <p:cNvPr id="33" name="ingest-h-4">
            <a:extLst xmlns:a="http://schemas.openxmlformats.org/drawingml/2006/main">
              <a:ext uri="{FF2B5EF4-FFF2-40B4-BE49-F238E27FC236}">
                <a16:creationId xmlns:a16="http://schemas.microsoft.com/office/drawing/2014/main" id="{187DDA01-4ED8-4871-8CFB-D65E0BB44E78}"/>
              </a:ext>
            </a:extLst>
          </p:cNvPr>
          <p:cNvSpPr>
            <a:spLocks xmlns:a="http://schemas.openxmlformats.org/drawingml/2006/main" noGrp="1"/>
          </p:cNvSpPr>
          <p:nvPr/>
        </p:nvSpPr>
        <p:spPr>
          <a:xfrm xmlns:a="http://schemas.openxmlformats.org/drawingml/2006/main">
            <a:off x="9734550" y="2800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51515"/>
                </a:solidFill>
                <a:latin typeface="Arial"/>
                <a:ea typeface="Arial"/>
                <a:cs typeface="Arial"/>
              </a:defRPr>
            </a:defPPr>
          </a:lstStyle>
          <a:p xmlns:a="http://schemas.openxmlformats.org/drawingml/2006/main">
            <a:pPr algn="l">
              <a:defRPr sz="1425" b="1">
                <a:solidFill>
                  <a:srgbClr val="151515"/>
                </a:solidFill>
                <a:latin typeface="Arial"/>
                <a:ea typeface="Arial"/>
                <a:cs typeface="Arial"/>
              </a:defRPr>
            </a:pPr>
            <a:r>
              <a:rPr sz="1425" b="1">
                <a:solidFill>
                  <a:srgbClr val="151515"/>
                </a:solidFill>
                <a:latin typeface="Arial"/>
                <a:ea typeface="Arial"/>
                <a:cs typeface="Arial"/>
              </a:rPr>
              <a:t>PERSIST + FLAG</a:t>
            </a:r>
          </a:p>
        </p:txBody>
      </p:sp>
      <p:sp>
        <p:nvSpPr>
          <p:cNvPr id="34" name="ingest-b-4">
            <a:extLst xmlns:a="http://schemas.openxmlformats.org/drawingml/2006/main">
              <a:ext uri="{FF2B5EF4-FFF2-40B4-BE49-F238E27FC236}">
                <a16:creationId xmlns:a16="http://schemas.microsoft.com/office/drawing/2014/main" id="{6D32AA7A-8BC9-45C2-8D3B-47785C67D05C}"/>
              </a:ext>
            </a:extLst>
          </p:cNvPr>
          <p:cNvSpPr>
            <a:spLocks xmlns:a="http://schemas.openxmlformats.org/drawingml/2006/main" noGrp="1"/>
          </p:cNvSpPr>
          <p:nvPr/>
        </p:nvSpPr>
        <p:spPr>
          <a:xfrm xmlns:a="http://schemas.openxmlformats.org/drawingml/2006/main">
            <a:off x="9734550" y="3371850"/>
            <a:ext cx="1619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51515"/>
                </a:solidFill>
                <a:latin typeface="Arial"/>
                <a:ea typeface="Arial"/>
                <a:cs typeface="Arial"/>
              </a:defRPr>
            </a:defPPr>
          </a:lstStyle>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Save records; queue</a:t>
            </a:r>
          </a:p>
          <a:p xmlns:a="http://schemas.openxmlformats.org/drawingml/2006/main">
            <a:pPr algn="l">
              <a:defRPr sz="1500" b="0">
                <a:solidFill>
                  <a:srgbClr val="151515"/>
                </a:solidFill>
                <a:latin typeface="Arial"/>
                <a:ea typeface="Arial"/>
                <a:cs typeface="Arial"/>
              </a:defRPr>
            </a:pPr>
            <a:r>
              <a:rPr sz="1500" b="0">
                <a:solidFill>
                  <a:srgbClr val="151515"/>
                </a:solidFill>
                <a:latin typeface="Arial"/>
                <a:ea typeface="Arial"/>
                <a:cs typeface="Arial"/>
              </a:rPr>
              <a:t>short text for review</a:t>
            </a:r>
          </a:p>
        </p:txBody>
      </p:sp>
      <p:sp>
        <p:nvSpPr>
          <p:cNvPr id="35" name="corroboration-band">
            <a:extLst xmlns:a="http://schemas.openxmlformats.org/drawingml/2006/main">
              <a:ext uri="{FF2B5EF4-FFF2-40B4-BE49-F238E27FC236}">
                <a16:creationId xmlns:a16="http://schemas.microsoft.com/office/drawing/2014/main" id="{D5564D61-266E-4638-B130-294CEA7F8F14}"/>
              </a:ext>
            </a:extLst>
          </p:cNvPr>
          <p:cNvSpPr>
            <a:spLocks xmlns:a="http://schemas.openxmlformats.org/drawingml/2006/main" noGrp="1"/>
          </p:cNvSpPr>
          <p:nvPr/>
        </p:nvSpPr>
        <p:spPr>
          <a:xfrm xmlns:a="http://schemas.openxmlformats.org/drawingml/2006/main">
            <a:off x="609600" y="5095875"/>
            <a:ext cx="10972800" cy="685800"/>
          </a:xfrm>
          <a:prstGeom xmlns:a="http://schemas.openxmlformats.org/drawingml/2006/main" prst="rect">
            <a:avLst/>
          </a:prstGeom>
          <a:solidFill xmlns:a="http://schemas.openxmlformats.org/drawingml/2006/main">
            <a:srgbClr val="151515"/>
          </a:solidFill>
          <a:ln xmlns:a="http://schemas.openxmlformats.org/drawingml/2006/main" w="0">
            <a:solidFill>
              <a:srgbClr val="151515"/>
            </a:solidFill>
            <a:prstDash val="solid"/>
          </a:ln>
        </p:spPr>
      </p:sp>
      <p:sp>
        <p:nvSpPr>
          <p:cNvPr id="36" name="corroboration-copy">
            <a:extLst xmlns:a="http://schemas.openxmlformats.org/drawingml/2006/main">
              <a:ext uri="{FF2B5EF4-FFF2-40B4-BE49-F238E27FC236}">
                <a16:creationId xmlns:a16="http://schemas.microsoft.com/office/drawing/2014/main" id="{EA4CA26E-05F9-4558-AE06-82BC89BF98A1}"/>
              </a:ext>
            </a:extLst>
          </p:cNvPr>
          <p:cNvSpPr>
            <a:spLocks xmlns:a="http://schemas.openxmlformats.org/drawingml/2006/main" noGrp="1"/>
          </p:cNvSpPr>
          <p:nvPr/>
        </p:nvSpPr>
        <p:spPr>
          <a:xfrm xmlns:a="http://schemas.openxmlformats.org/drawingml/2006/main">
            <a:off x="819150" y="5191125"/>
            <a:ext cx="1055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Cross-source flag: a story has coverage from more than one distinct source.</a:t>
            </a:r>
          </a:p>
        </p:txBody>
      </p:sp>
    </p:spTree>
    <p:extLst>
      <p:ext uri="{BB962C8B-B14F-4D97-AF65-F5344CB8AC3E}">
        <p14:creationId xmlns:p14="http://schemas.microsoft.com/office/powerpoint/2010/main" val="1975359469"/>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23" name="section-kicker">
            <a:extLst xmlns:a="http://schemas.openxmlformats.org/drawingml/2006/main">
              <a:ext uri="{FF2B5EF4-FFF2-40B4-BE49-F238E27FC236}">
                <a16:creationId xmlns:a16="http://schemas.microsoft.com/office/drawing/2014/main" id="{F2E68934-A425-47BA-A865-ACA505986929}"/>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AUTOMATION + WEBSITE</a:t>
            </a:r>
          </a:p>
        </p:txBody>
      </p:sp>
      <p:sp>
        <p:nvSpPr>
          <p:cNvPr id="2" name="slide-title">
            <a:extLst xmlns:a="http://schemas.openxmlformats.org/drawingml/2006/main">
              <a:ext uri="{FF2B5EF4-FFF2-40B4-BE49-F238E27FC236}">
                <a16:creationId xmlns:a16="http://schemas.microsoft.com/office/drawing/2014/main" id="{2A70BA9A-4E58-47F0-8A54-69ED1894BE33}"/>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The checks stay visible</a:t>
            </a:r>
          </a:p>
        </p:txBody>
      </p:sp>
      <p:sp>
        <p:nvSpPr>
          <p:cNvPr id="3" name="">
            <a:extLst xmlns:a="http://schemas.openxmlformats.org/drawingml/2006/main">
              <a:ext uri="{FF2B5EF4-FFF2-40B4-BE49-F238E27FC236}">
                <a16:creationId xmlns:a16="http://schemas.microsoft.com/office/drawing/2014/main" id="{48792F92-4ED2-4DEC-837D-20F7941023EB}"/>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B35AA2D2-7175-4382-9133-309581B51957}"/>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519C1AAE-E971-43A7-AE3B-84276468F6E1}"/>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04 / 09</a:t>
            </a:r>
          </a:p>
        </p:txBody>
      </p:sp>
      <p:sp>
        <p:nvSpPr>
          <p:cNvPr id="6" name="story-question">
            <a:extLst xmlns:a="http://schemas.openxmlformats.org/drawingml/2006/main">
              <a:ext uri="{FF2B5EF4-FFF2-40B4-BE49-F238E27FC236}">
                <a16:creationId xmlns:a16="http://schemas.microsoft.com/office/drawing/2014/main" id="{38FDD1C6-D324-4FA4-8C63-5A9942452B39}"/>
              </a:ext>
            </a:extLst>
          </p:cNvPr>
          <p:cNvSpPr>
            <a:spLocks xmlns:a="http://schemas.openxmlformats.org/drawingml/2006/main" noGrp="1"/>
          </p:cNvSpPr>
          <p:nvPr/>
        </p:nvSpPr>
        <p:spPr>
          <a:xfrm xmlns:a="http://schemas.openxmlformats.org/drawingml/2006/main">
            <a:off x="609600" y="1504950"/>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51515"/>
                </a:solidFill>
                <a:latin typeface="Arial"/>
                <a:ea typeface="Arial"/>
                <a:cs typeface="Arial"/>
              </a:defRPr>
            </a:defPPr>
          </a:lstStyle>
          <a:p xmlns:a="http://schemas.openxmlformats.org/drawingml/2006/main">
            <a:pPr algn="l">
              <a:defRPr sz="2025" b="1">
                <a:solidFill>
                  <a:srgbClr val="151515"/>
                </a:solidFill>
                <a:latin typeface="Arial"/>
                <a:ea typeface="Arial"/>
                <a:cs typeface="Arial"/>
              </a:defRPr>
            </a:pPr>
            <a:r>
              <a:rPr sz="2025" b="1">
                <a:solidFill>
                  <a:srgbClr val="151515"/>
                </a:solidFill>
                <a:latin typeface="Arial"/>
                <a:ea typeface="Arial"/>
                <a:cs typeface="Arial"/>
              </a:rPr>
              <a:t>A story page answers three reader questions</a:t>
            </a:r>
          </a:p>
        </p:txBody>
      </p:sp>
      <p:sp>
        <p:nvSpPr>
          <p:cNvPr id="7" name="story-row-0">
            <a:extLst xmlns:a="http://schemas.openxmlformats.org/drawingml/2006/main">
              <a:ext uri="{FF2B5EF4-FFF2-40B4-BE49-F238E27FC236}">
                <a16:creationId xmlns:a16="http://schemas.microsoft.com/office/drawing/2014/main" id="{4722F4BC-6E6B-45ED-8FA8-B0ACF76892A2}"/>
              </a:ext>
            </a:extLst>
          </p:cNvPr>
          <p:cNvSpPr>
            <a:spLocks xmlns:a="http://schemas.openxmlformats.org/drawingml/2006/main" noGrp="1"/>
          </p:cNvSpPr>
          <p:nvPr/>
        </p:nvSpPr>
        <p:spPr>
          <a:xfrm xmlns:a="http://schemas.openxmlformats.org/drawingml/2006/main">
            <a:off x="609600" y="2381250"/>
            <a:ext cx="6953250" cy="8382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8" name="story-number-0">
            <a:extLst xmlns:a="http://schemas.openxmlformats.org/drawingml/2006/main">
              <a:ext uri="{FF2B5EF4-FFF2-40B4-BE49-F238E27FC236}">
                <a16:creationId xmlns:a16="http://schemas.microsoft.com/office/drawing/2014/main" id="{E0603C1F-1F5D-4F7B-9116-5DD6E31A7A70}"/>
              </a:ext>
            </a:extLst>
          </p:cNvPr>
          <p:cNvSpPr>
            <a:spLocks xmlns:a="http://schemas.openxmlformats.org/drawingml/2006/main" noGrp="1"/>
          </p:cNvSpPr>
          <p:nvPr/>
        </p:nvSpPr>
        <p:spPr>
          <a:xfrm xmlns:a="http://schemas.openxmlformats.org/drawingml/2006/main">
            <a:off x="800100" y="25527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2758E8"/>
                </a:solidFill>
                <a:latin typeface="Arial"/>
                <a:ea typeface="Arial"/>
                <a:cs typeface="Arial"/>
              </a:defRPr>
            </a:defPPr>
          </a:lstStyle>
          <a:p xmlns:a="http://schemas.openxmlformats.org/drawingml/2006/main">
            <a:pPr algn="l">
              <a:defRPr sz="1800" b="1">
                <a:solidFill>
                  <a:srgbClr val="2758E8"/>
                </a:solidFill>
                <a:latin typeface="Arial"/>
                <a:ea typeface="Arial"/>
                <a:cs typeface="Arial"/>
              </a:defRPr>
            </a:pPr>
            <a:r>
              <a:rPr sz="1800" b="1">
                <a:solidFill>
                  <a:srgbClr val="2758E8"/>
                </a:solidFill>
                <a:latin typeface="Arial"/>
                <a:ea typeface="Arial"/>
                <a:cs typeface="Arial"/>
              </a:rPr>
              <a:t>01</a:t>
            </a:r>
          </a:p>
        </p:txBody>
      </p:sp>
      <p:sp>
        <p:nvSpPr>
          <p:cNvPr id="9" name="story-label-0">
            <a:extLst xmlns:a="http://schemas.openxmlformats.org/drawingml/2006/main">
              <a:ext uri="{FF2B5EF4-FFF2-40B4-BE49-F238E27FC236}">
                <a16:creationId xmlns:a16="http://schemas.microsoft.com/office/drawing/2014/main" id="{43A9B6D3-9487-4792-9182-F687E3EBAA81}"/>
              </a:ext>
            </a:extLst>
          </p:cNvPr>
          <p:cNvSpPr>
            <a:spLocks xmlns:a="http://schemas.openxmlformats.org/drawingml/2006/main" noGrp="1"/>
          </p:cNvSpPr>
          <p:nvPr/>
        </p:nvSpPr>
        <p:spPr>
          <a:xfrm xmlns:a="http://schemas.openxmlformats.org/drawingml/2006/main">
            <a:off x="1524000" y="2476500"/>
            <a:ext cx="3162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5B5B55"/>
                </a:solidFill>
                <a:latin typeface="Arial"/>
                <a:ea typeface="Arial"/>
                <a:cs typeface="Arial"/>
              </a:defRPr>
            </a:defPPr>
          </a:lstStyle>
          <a:p xmlns:a="http://schemas.openxmlformats.org/drawingml/2006/main">
            <a:pPr algn="l">
              <a:defRPr sz="1200" b="1">
                <a:solidFill>
                  <a:srgbClr val="5B5B55"/>
                </a:solidFill>
                <a:latin typeface="Arial"/>
                <a:ea typeface="Arial"/>
                <a:cs typeface="Arial"/>
              </a:defRPr>
            </a:pPr>
            <a:r>
              <a:rPr sz="1200" b="1">
                <a:solidFill>
                  <a:srgbClr val="5B5B55"/>
                </a:solidFill>
                <a:latin typeface="Arial"/>
                <a:ea typeface="Arial"/>
                <a:cs typeface="Arial"/>
              </a:rPr>
              <a:t>WHAT HAPPENED?</a:t>
            </a:r>
          </a:p>
        </p:txBody>
      </p:sp>
      <p:sp>
        <p:nvSpPr>
          <p:cNvPr id="10" name="story-copy-0">
            <a:extLst xmlns:a="http://schemas.openxmlformats.org/drawingml/2006/main">
              <a:ext uri="{FF2B5EF4-FFF2-40B4-BE49-F238E27FC236}">
                <a16:creationId xmlns:a16="http://schemas.microsoft.com/office/drawing/2014/main" id="{43F1D0F1-2F20-4DAB-B69D-920C3E1B73CC}"/>
              </a:ext>
            </a:extLst>
          </p:cNvPr>
          <p:cNvSpPr>
            <a:spLocks xmlns:a="http://schemas.openxmlformats.org/drawingml/2006/main" noGrp="1"/>
          </p:cNvSpPr>
          <p:nvPr/>
        </p:nvSpPr>
        <p:spPr>
          <a:xfrm xmlns:a="http://schemas.openxmlformats.org/drawingml/2006/main">
            <a:off x="1524000" y="2752725"/>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51515"/>
                </a:solidFill>
                <a:latin typeface="Arial"/>
                <a:ea typeface="Arial"/>
                <a:cs typeface="Arial"/>
              </a:defRPr>
            </a:defPPr>
          </a:lstStyle>
          <a:p xmlns:a="http://schemas.openxmlformats.org/drawingml/2006/main">
            <a:pPr algn="l">
              <a:defRPr sz="1650" b="1">
                <a:solidFill>
                  <a:srgbClr val="151515"/>
                </a:solidFill>
                <a:latin typeface="Arial"/>
                <a:ea typeface="Arial"/>
                <a:cs typeface="Arial"/>
              </a:defRPr>
            </a:pPr>
            <a:r>
              <a:rPr sz="1650" b="1">
                <a:solidFill>
                  <a:srgbClr val="151515"/>
                </a:solidFill>
                <a:latin typeface="Arial"/>
                <a:ea typeface="Arial"/>
                <a:cs typeface="Arial"/>
              </a:rPr>
              <a:t>A plain-language summary</a:t>
            </a:r>
          </a:p>
        </p:txBody>
      </p:sp>
      <p:sp>
        <p:nvSpPr>
          <p:cNvPr id="11" name="story-row-1">
            <a:extLst xmlns:a="http://schemas.openxmlformats.org/drawingml/2006/main">
              <a:ext uri="{FF2B5EF4-FFF2-40B4-BE49-F238E27FC236}">
                <a16:creationId xmlns:a16="http://schemas.microsoft.com/office/drawing/2014/main" id="{74B71F00-EDCD-42BD-A0A6-BFFD7116FDA3}"/>
              </a:ext>
            </a:extLst>
          </p:cNvPr>
          <p:cNvSpPr>
            <a:spLocks xmlns:a="http://schemas.openxmlformats.org/drawingml/2006/main" noGrp="1"/>
          </p:cNvSpPr>
          <p:nvPr/>
        </p:nvSpPr>
        <p:spPr>
          <a:xfrm xmlns:a="http://schemas.openxmlformats.org/drawingml/2006/main">
            <a:off x="609600" y="3448050"/>
            <a:ext cx="6953250" cy="8382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12" name="story-number-1">
            <a:extLst xmlns:a="http://schemas.openxmlformats.org/drawingml/2006/main">
              <a:ext uri="{FF2B5EF4-FFF2-40B4-BE49-F238E27FC236}">
                <a16:creationId xmlns:a16="http://schemas.microsoft.com/office/drawing/2014/main" id="{587BE6C7-6C73-47F8-87A4-84862DEDF034}"/>
              </a:ext>
            </a:extLst>
          </p:cNvPr>
          <p:cNvSpPr>
            <a:spLocks xmlns:a="http://schemas.openxmlformats.org/drawingml/2006/main" noGrp="1"/>
          </p:cNvSpPr>
          <p:nvPr/>
        </p:nvSpPr>
        <p:spPr>
          <a:xfrm xmlns:a="http://schemas.openxmlformats.org/drawingml/2006/main">
            <a:off x="800100" y="36195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2758E8"/>
                </a:solidFill>
                <a:latin typeface="Arial"/>
                <a:ea typeface="Arial"/>
                <a:cs typeface="Arial"/>
              </a:defRPr>
            </a:defPPr>
          </a:lstStyle>
          <a:p xmlns:a="http://schemas.openxmlformats.org/drawingml/2006/main">
            <a:pPr algn="l">
              <a:defRPr sz="1800" b="1">
                <a:solidFill>
                  <a:srgbClr val="2758E8"/>
                </a:solidFill>
                <a:latin typeface="Arial"/>
                <a:ea typeface="Arial"/>
                <a:cs typeface="Arial"/>
              </a:defRPr>
            </a:pPr>
            <a:r>
              <a:rPr sz="1800" b="1">
                <a:solidFill>
                  <a:srgbClr val="2758E8"/>
                </a:solidFill>
                <a:latin typeface="Arial"/>
                <a:ea typeface="Arial"/>
                <a:cs typeface="Arial"/>
              </a:rPr>
              <a:t>02</a:t>
            </a:r>
          </a:p>
        </p:txBody>
      </p:sp>
      <p:sp>
        <p:nvSpPr>
          <p:cNvPr id="13" name="story-label-1">
            <a:extLst xmlns:a="http://schemas.openxmlformats.org/drawingml/2006/main">
              <a:ext uri="{FF2B5EF4-FFF2-40B4-BE49-F238E27FC236}">
                <a16:creationId xmlns:a16="http://schemas.microsoft.com/office/drawing/2014/main" id="{2C263C8B-BCD9-4B77-BBBC-74B26C6FA0C7}"/>
              </a:ext>
            </a:extLst>
          </p:cNvPr>
          <p:cNvSpPr>
            <a:spLocks xmlns:a="http://schemas.openxmlformats.org/drawingml/2006/main" noGrp="1"/>
          </p:cNvSpPr>
          <p:nvPr/>
        </p:nvSpPr>
        <p:spPr>
          <a:xfrm xmlns:a="http://schemas.openxmlformats.org/drawingml/2006/main">
            <a:off x="1524000" y="3543300"/>
            <a:ext cx="3162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5B5B55"/>
                </a:solidFill>
                <a:latin typeface="Arial"/>
                <a:ea typeface="Arial"/>
                <a:cs typeface="Arial"/>
              </a:defRPr>
            </a:defPPr>
          </a:lstStyle>
          <a:p xmlns:a="http://schemas.openxmlformats.org/drawingml/2006/main">
            <a:pPr algn="l">
              <a:defRPr sz="1200" b="1">
                <a:solidFill>
                  <a:srgbClr val="5B5B55"/>
                </a:solidFill>
                <a:latin typeface="Arial"/>
                <a:ea typeface="Arial"/>
                <a:cs typeface="Arial"/>
              </a:defRPr>
            </a:pPr>
            <a:r>
              <a:rPr sz="1200" b="1">
                <a:solidFill>
                  <a:srgbClr val="5B5B55"/>
                </a:solidFill>
                <a:latin typeface="Arial"/>
                <a:ea typeface="Arial"/>
                <a:cs typeface="Arial"/>
              </a:rPr>
              <a:t>WHO REPORTS IT?</a:t>
            </a:r>
          </a:p>
        </p:txBody>
      </p:sp>
      <p:sp>
        <p:nvSpPr>
          <p:cNvPr id="14" name="story-copy-1">
            <a:extLst xmlns:a="http://schemas.openxmlformats.org/drawingml/2006/main">
              <a:ext uri="{FF2B5EF4-FFF2-40B4-BE49-F238E27FC236}">
                <a16:creationId xmlns:a16="http://schemas.microsoft.com/office/drawing/2014/main" id="{070A9DF9-A6AF-4031-AB26-64BC98BCAEA0}"/>
              </a:ext>
            </a:extLst>
          </p:cNvPr>
          <p:cNvSpPr>
            <a:spLocks xmlns:a="http://schemas.openxmlformats.org/drawingml/2006/main" noGrp="1"/>
          </p:cNvSpPr>
          <p:nvPr/>
        </p:nvSpPr>
        <p:spPr>
          <a:xfrm xmlns:a="http://schemas.openxmlformats.org/drawingml/2006/main">
            <a:off x="1524000" y="3819525"/>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51515"/>
                </a:solidFill>
                <a:latin typeface="Arial"/>
                <a:ea typeface="Arial"/>
                <a:cs typeface="Arial"/>
              </a:defRPr>
            </a:defPPr>
          </a:lstStyle>
          <a:p xmlns:a="http://schemas.openxmlformats.org/drawingml/2006/main">
            <a:pPr algn="l">
              <a:defRPr sz="1650" b="1">
                <a:solidFill>
                  <a:srgbClr val="151515"/>
                </a:solidFill>
                <a:latin typeface="Arial"/>
                <a:ea typeface="Arial"/>
                <a:cs typeface="Arial"/>
              </a:defRPr>
            </a:pPr>
            <a:r>
              <a:rPr sz="1650" b="1">
                <a:solidFill>
                  <a:srgbClr val="151515"/>
                </a:solidFill>
                <a:latin typeface="Arial"/>
                <a:ea typeface="Arial"/>
                <a:cs typeface="Arial"/>
              </a:rPr>
              <a:t>Source stances and consensus</a:t>
            </a:r>
          </a:p>
        </p:txBody>
      </p:sp>
      <p:sp>
        <p:nvSpPr>
          <p:cNvPr id="15" name="story-row-2">
            <a:extLst xmlns:a="http://schemas.openxmlformats.org/drawingml/2006/main">
              <a:ext uri="{FF2B5EF4-FFF2-40B4-BE49-F238E27FC236}">
                <a16:creationId xmlns:a16="http://schemas.microsoft.com/office/drawing/2014/main" id="{409B9522-BAE0-4FBD-831D-87CE9D5503FD}"/>
              </a:ext>
            </a:extLst>
          </p:cNvPr>
          <p:cNvSpPr>
            <a:spLocks xmlns:a="http://schemas.openxmlformats.org/drawingml/2006/main" noGrp="1"/>
          </p:cNvSpPr>
          <p:nvPr/>
        </p:nvSpPr>
        <p:spPr>
          <a:xfrm xmlns:a="http://schemas.openxmlformats.org/drawingml/2006/main">
            <a:off x="609600" y="4514850"/>
            <a:ext cx="6953250" cy="8382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16" name="story-number-2">
            <a:extLst xmlns:a="http://schemas.openxmlformats.org/drawingml/2006/main">
              <a:ext uri="{FF2B5EF4-FFF2-40B4-BE49-F238E27FC236}">
                <a16:creationId xmlns:a16="http://schemas.microsoft.com/office/drawing/2014/main" id="{D55A2E2C-05E3-4D65-94AF-F0FC3055CB46}"/>
              </a:ext>
            </a:extLst>
          </p:cNvPr>
          <p:cNvSpPr>
            <a:spLocks xmlns:a="http://schemas.openxmlformats.org/drawingml/2006/main" noGrp="1"/>
          </p:cNvSpPr>
          <p:nvPr/>
        </p:nvSpPr>
        <p:spPr>
          <a:xfrm xmlns:a="http://schemas.openxmlformats.org/drawingml/2006/main">
            <a:off x="800100" y="468630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2758E8"/>
                </a:solidFill>
                <a:latin typeface="Arial"/>
                <a:ea typeface="Arial"/>
                <a:cs typeface="Arial"/>
              </a:defRPr>
            </a:defPPr>
          </a:lstStyle>
          <a:p xmlns:a="http://schemas.openxmlformats.org/drawingml/2006/main">
            <a:pPr algn="l">
              <a:defRPr sz="1800" b="1">
                <a:solidFill>
                  <a:srgbClr val="2758E8"/>
                </a:solidFill>
                <a:latin typeface="Arial"/>
                <a:ea typeface="Arial"/>
                <a:cs typeface="Arial"/>
              </a:defRPr>
            </a:pPr>
            <a:r>
              <a:rPr sz="1800" b="1">
                <a:solidFill>
                  <a:srgbClr val="2758E8"/>
                </a:solidFill>
                <a:latin typeface="Arial"/>
                <a:ea typeface="Arial"/>
                <a:cs typeface="Arial"/>
              </a:rPr>
              <a:t>03</a:t>
            </a:r>
          </a:p>
        </p:txBody>
      </p:sp>
      <p:sp>
        <p:nvSpPr>
          <p:cNvPr id="17" name="story-label-2">
            <a:extLst xmlns:a="http://schemas.openxmlformats.org/drawingml/2006/main">
              <a:ext uri="{FF2B5EF4-FFF2-40B4-BE49-F238E27FC236}">
                <a16:creationId xmlns:a16="http://schemas.microsoft.com/office/drawing/2014/main" id="{7CF7AFD6-CE5B-4161-B530-AEDA12633E35}"/>
              </a:ext>
            </a:extLst>
          </p:cNvPr>
          <p:cNvSpPr>
            <a:spLocks xmlns:a="http://schemas.openxmlformats.org/drawingml/2006/main" noGrp="1"/>
          </p:cNvSpPr>
          <p:nvPr/>
        </p:nvSpPr>
        <p:spPr>
          <a:xfrm xmlns:a="http://schemas.openxmlformats.org/drawingml/2006/main">
            <a:off x="1524000" y="4610100"/>
            <a:ext cx="3162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5B5B55"/>
                </a:solidFill>
                <a:latin typeface="Arial"/>
                <a:ea typeface="Arial"/>
                <a:cs typeface="Arial"/>
              </a:defRPr>
            </a:defPPr>
          </a:lstStyle>
          <a:p xmlns:a="http://schemas.openxmlformats.org/drawingml/2006/main">
            <a:pPr algn="l">
              <a:defRPr sz="1200" b="1">
                <a:solidFill>
                  <a:srgbClr val="5B5B55"/>
                </a:solidFill>
                <a:latin typeface="Arial"/>
                <a:ea typeface="Arial"/>
                <a:cs typeface="Arial"/>
              </a:defRPr>
            </a:pPr>
            <a:r>
              <a:rPr sz="1200" b="1">
                <a:solidFill>
                  <a:srgbClr val="5B5B55"/>
                </a:solidFill>
                <a:latin typeface="Arial"/>
                <a:ea typeface="Arial"/>
                <a:cs typeface="Arial"/>
              </a:rPr>
              <a:t>WHAT NEEDS A SECOND LOOK?</a:t>
            </a:r>
          </a:p>
        </p:txBody>
      </p:sp>
      <p:sp>
        <p:nvSpPr>
          <p:cNvPr id="18" name="story-copy-2">
            <a:extLst xmlns:a="http://schemas.openxmlformats.org/drawingml/2006/main">
              <a:ext uri="{FF2B5EF4-FFF2-40B4-BE49-F238E27FC236}">
                <a16:creationId xmlns:a16="http://schemas.microsoft.com/office/drawing/2014/main" id="{B48F5B25-A0B6-456F-B076-6437184FCAA1}"/>
              </a:ext>
            </a:extLst>
          </p:cNvPr>
          <p:cNvSpPr>
            <a:spLocks xmlns:a="http://schemas.openxmlformats.org/drawingml/2006/main" noGrp="1"/>
          </p:cNvSpPr>
          <p:nvPr/>
        </p:nvSpPr>
        <p:spPr>
          <a:xfrm xmlns:a="http://schemas.openxmlformats.org/drawingml/2006/main">
            <a:off x="1524000" y="4886325"/>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51515"/>
                </a:solidFill>
                <a:latin typeface="Arial"/>
                <a:ea typeface="Arial"/>
                <a:cs typeface="Arial"/>
              </a:defRPr>
            </a:defPPr>
          </a:lstStyle>
          <a:p xmlns:a="http://schemas.openxmlformats.org/drawingml/2006/main">
            <a:pPr algn="l">
              <a:defRPr sz="1650" b="1">
                <a:solidFill>
                  <a:srgbClr val="151515"/>
                </a:solidFill>
                <a:latin typeface="Arial"/>
                <a:ea typeface="Arial"/>
                <a:cs typeface="Arial"/>
              </a:defRPr>
            </a:pPr>
            <a:r>
              <a:rPr sz="1650" b="1">
                <a:solidFill>
                  <a:srgbClr val="151515"/>
                </a:solidFill>
                <a:latin typeface="Arial"/>
                <a:ea typeface="Arial"/>
                <a:cs typeface="Arial"/>
              </a:rPr>
              <a:t>A flagged claim with its reason</a:t>
            </a:r>
          </a:p>
        </p:txBody>
      </p:sp>
      <p:sp>
        <p:nvSpPr>
          <p:cNvPr id="19" name="trust-quote">
            <a:extLst xmlns:a="http://schemas.openxmlformats.org/drawingml/2006/main">
              <a:ext uri="{FF2B5EF4-FFF2-40B4-BE49-F238E27FC236}">
                <a16:creationId xmlns:a16="http://schemas.microsoft.com/office/drawing/2014/main" id="{951BC134-B249-4504-B7C2-212D7AA6E330}"/>
              </a:ext>
            </a:extLst>
          </p:cNvPr>
          <p:cNvSpPr>
            <a:spLocks xmlns:a="http://schemas.openxmlformats.org/drawingml/2006/main" noGrp="1"/>
          </p:cNvSpPr>
          <p:nvPr/>
        </p:nvSpPr>
        <p:spPr>
          <a:xfrm xmlns:a="http://schemas.openxmlformats.org/drawingml/2006/main">
            <a:off x="8096250" y="2381250"/>
            <a:ext cx="3486150" cy="2971800"/>
          </a:xfrm>
          <a:prstGeom xmlns:a="http://schemas.openxmlformats.org/drawingml/2006/main" prst="rect">
            <a:avLst/>
          </a:prstGeom>
          <a:solidFill xmlns:a="http://schemas.openxmlformats.org/drawingml/2006/main">
            <a:srgbClr val="2758E8"/>
          </a:solidFill>
          <a:ln xmlns:a="http://schemas.openxmlformats.org/drawingml/2006/main" w="38100">
            <a:solidFill>
              <a:srgbClr val="151515"/>
            </a:solidFill>
            <a:prstDash val="solid"/>
          </a:ln>
        </p:spPr>
      </p:sp>
      <p:sp>
        <p:nvSpPr>
          <p:cNvPr id="20" name="trust-quote-copy">
            <a:extLst xmlns:a="http://schemas.openxmlformats.org/drawingml/2006/main">
              <a:ext uri="{FF2B5EF4-FFF2-40B4-BE49-F238E27FC236}">
                <a16:creationId xmlns:a16="http://schemas.microsoft.com/office/drawing/2014/main" id="{C9511067-9192-4DDC-8793-B981607B67E3}"/>
              </a:ext>
            </a:extLst>
          </p:cNvPr>
          <p:cNvSpPr>
            <a:spLocks xmlns:a="http://schemas.openxmlformats.org/drawingml/2006/main" noGrp="1"/>
          </p:cNvSpPr>
          <p:nvPr/>
        </p:nvSpPr>
        <p:spPr>
          <a:xfrm xmlns:a="http://schemas.openxmlformats.org/drawingml/2006/main">
            <a:off x="8401050" y="268605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“Show the split,</a:t>
            </a:r>
          </a:p>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not the spin.”</a:t>
            </a:r>
          </a:p>
        </p:txBody>
      </p:sp>
      <p:sp>
        <p:nvSpPr>
          <p:cNvPr id="21" name="">
            <a:extLst xmlns:a="http://schemas.openxmlformats.org/drawingml/2006/main">
              <a:ext uri="{FF2B5EF4-FFF2-40B4-BE49-F238E27FC236}">
                <a16:creationId xmlns:a16="http://schemas.microsoft.com/office/drawing/2014/main" id="{C53FD479-E565-4C0C-8BA8-5B793F6A77E0}"/>
              </a:ext>
            </a:extLst>
          </p:cNvPr>
          <p:cNvSpPr>
            <a:spLocks xmlns:a="http://schemas.openxmlformats.org/drawingml/2006/main" noGrp="1"/>
          </p:cNvSpPr>
          <p:nvPr/>
        </p:nvSpPr>
        <p:spPr>
          <a:xfrm xmlns:a="http://schemas.openxmlformats.org/drawingml/2006/main">
            <a:off x="8401050" y="3667125"/>
            <a:ext cx="2867025"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22" name="trust-quote-detail">
            <a:extLst xmlns:a="http://schemas.openxmlformats.org/drawingml/2006/main">
              <a:ext uri="{FF2B5EF4-FFF2-40B4-BE49-F238E27FC236}">
                <a16:creationId xmlns:a16="http://schemas.microsoft.com/office/drawing/2014/main" id="{C8007035-A38F-4B75-8A21-F91C706DD912}"/>
              </a:ext>
            </a:extLst>
          </p:cNvPr>
          <p:cNvSpPr>
            <a:spLocks xmlns:a="http://schemas.openxmlformats.org/drawingml/2006/main" noGrp="1"/>
          </p:cNvSpPr>
          <p:nvPr/>
        </p:nvSpPr>
        <p:spPr>
          <a:xfrm xmlns:a="http://schemas.openxmlformats.org/drawingml/2006/main">
            <a:off x="8401050" y="3924300"/>
            <a:ext cx="28003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FFFFFF"/>
                </a:solidFill>
                <a:latin typeface="Arial"/>
                <a:ea typeface="Arial"/>
                <a:cs typeface="Arial"/>
              </a:defRPr>
            </a:def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Disputes stay labeled.</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Original reporting stays</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one click away.</a:t>
            </a:r>
          </a:p>
        </p:txBody>
      </p:sp>
    </p:spTree>
    <p:extLst>
      <p:ext uri="{BB962C8B-B14F-4D97-AF65-F5344CB8AC3E}">
        <p14:creationId xmlns:p14="http://schemas.microsoft.com/office/powerpoint/2010/main" val="1945601207"/>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8" name="section-kicker">
            <a:extLst xmlns:a="http://schemas.openxmlformats.org/drawingml/2006/main">
              <a:ext uri="{FF2B5EF4-FFF2-40B4-BE49-F238E27FC236}">
                <a16:creationId xmlns:a16="http://schemas.microsoft.com/office/drawing/2014/main" id="{92D8FC49-96E6-481B-A845-C6946B5B6127}"/>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AUTOMATION + WEBSITE</a:t>
            </a:r>
          </a:p>
        </p:txBody>
      </p:sp>
      <p:sp>
        <p:nvSpPr>
          <p:cNvPr id="2" name="slide-title">
            <a:extLst xmlns:a="http://schemas.openxmlformats.org/drawingml/2006/main">
              <a:ext uri="{FF2B5EF4-FFF2-40B4-BE49-F238E27FC236}">
                <a16:creationId xmlns:a16="http://schemas.microsoft.com/office/drawing/2014/main" id="{5E30B9B7-DD86-4608-BA36-3872B23761DD}"/>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A second automation track turns stories into short video</a:t>
            </a:r>
          </a:p>
        </p:txBody>
      </p:sp>
      <p:sp>
        <p:nvSpPr>
          <p:cNvPr id="3" name="">
            <a:extLst xmlns:a="http://schemas.openxmlformats.org/drawingml/2006/main">
              <a:ext uri="{FF2B5EF4-FFF2-40B4-BE49-F238E27FC236}">
                <a16:creationId xmlns:a16="http://schemas.microsoft.com/office/drawing/2014/main" id="{B8E590CD-9854-4C64-A9DC-28AE979E67E6}"/>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39C77581-1A80-4A73-AAB8-22AC8F750120}"/>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8262F0D4-452E-467E-A16C-A2E3F2A900DB}"/>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05 / 09</a:t>
            </a:r>
          </a:p>
        </p:txBody>
      </p:sp>
      <p:sp>
        <p:nvSpPr>
          <p:cNvPr id="6" name="video-stage-0">
            <a:extLst xmlns:a="http://schemas.openxmlformats.org/drawingml/2006/main">
              <a:ext uri="{FF2B5EF4-FFF2-40B4-BE49-F238E27FC236}">
                <a16:creationId xmlns:a16="http://schemas.microsoft.com/office/drawing/2014/main" id="{FCAD1C89-4889-4EDC-8477-39F756298F32}"/>
              </a:ext>
            </a:extLst>
          </p:cNvPr>
          <p:cNvSpPr>
            <a:spLocks xmlns:a="http://schemas.openxmlformats.org/drawingml/2006/main" noGrp="1"/>
          </p:cNvSpPr>
          <p:nvPr/>
        </p:nvSpPr>
        <p:spPr>
          <a:xfrm xmlns:a="http://schemas.openxmlformats.org/drawingml/2006/main">
            <a:off x="609600" y="1981200"/>
            <a:ext cx="171450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7" name="video-num-0">
            <a:extLst xmlns:a="http://schemas.openxmlformats.org/drawingml/2006/main">
              <a:ext uri="{FF2B5EF4-FFF2-40B4-BE49-F238E27FC236}">
                <a16:creationId xmlns:a16="http://schemas.microsoft.com/office/drawing/2014/main" id="{3FC207EC-09DE-4CF0-BF79-DF9AE62B63D2}"/>
              </a:ext>
            </a:extLst>
          </p:cNvPr>
          <p:cNvSpPr>
            <a:spLocks xmlns:a="http://schemas.openxmlformats.org/drawingml/2006/main" noGrp="1"/>
          </p:cNvSpPr>
          <p:nvPr/>
        </p:nvSpPr>
        <p:spPr>
          <a:xfrm xmlns:a="http://schemas.openxmlformats.org/drawingml/2006/main">
            <a:off x="762000" y="21336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01</a:t>
            </a:r>
          </a:p>
        </p:txBody>
      </p:sp>
      <p:sp>
        <p:nvSpPr>
          <p:cNvPr id="8" name="video-heading-0">
            <a:extLst xmlns:a="http://schemas.openxmlformats.org/drawingml/2006/main">
              <a:ext uri="{FF2B5EF4-FFF2-40B4-BE49-F238E27FC236}">
                <a16:creationId xmlns:a16="http://schemas.microsoft.com/office/drawing/2014/main" id="{1A1BB3D8-840D-45B8-AB63-EF711C47DF5E}"/>
              </a:ext>
            </a:extLst>
          </p:cNvPr>
          <p:cNvSpPr>
            <a:spLocks xmlns:a="http://schemas.openxmlformats.org/drawingml/2006/main" noGrp="1"/>
          </p:cNvSpPr>
          <p:nvPr/>
        </p:nvSpPr>
        <p:spPr>
          <a:xfrm xmlns:a="http://schemas.openxmlformats.org/drawingml/2006/main">
            <a:off x="762000" y="2562225"/>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STORY</a:t>
            </a:r>
          </a:p>
        </p:txBody>
      </p:sp>
      <p:sp>
        <p:nvSpPr>
          <p:cNvPr id="9" name="video-desc-0">
            <a:extLst xmlns:a="http://schemas.openxmlformats.org/drawingml/2006/main">
              <a:ext uri="{FF2B5EF4-FFF2-40B4-BE49-F238E27FC236}">
                <a16:creationId xmlns:a16="http://schemas.microsoft.com/office/drawing/2014/main" id="{AC0E0723-82AC-45F7-A062-9BD4725CF25B}"/>
              </a:ext>
            </a:extLst>
          </p:cNvPr>
          <p:cNvSpPr>
            <a:spLocks xmlns:a="http://schemas.openxmlformats.org/drawingml/2006/main" noGrp="1"/>
          </p:cNvSpPr>
          <p:nvPr/>
        </p:nvSpPr>
        <p:spPr>
          <a:xfrm xmlns:a="http://schemas.openxmlformats.org/drawingml/2006/main">
            <a:off x="762000" y="3057525"/>
            <a:ext cx="140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51515"/>
                </a:solidFill>
                <a:latin typeface="Arial"/>
                <a:ea typeface="Arial"/>
                <a:cs typeface="Arial"/>
              </a:defRPr>
            </a:defPPr>
          </a:lstStyle>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Eligible multi-source</a:t>
            </a:r>
          </a:p>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candidate</a:t>
            </a:r>
          </a:p>
        </p:txBody>
      </p:sp>
      <p:sp>
        <p:nvSpPr>
          <p:cNvPr id="10" name="video-arr-0">
            <a:extLst xmlns:a="http://schemas.openxmlformats.org/drawingml/2006/main">
              <a:ext uri="{FF2B5EF4-FFF2-40B4-BE49-F238E27FC236}">
                <a16:creationId xmlns:a16="http://schemas.microsoft.com/office/drawing/2014/main" id="{BA1C6B48-7B09-444C-910C-A12999DC82D0}"/>
              </a:ext>
            </a:extLst>
          </p:cNvPr>
          <p:cNvSpPr>
            <a:spLocks xmlns:a="http://schemas.openxmlformats.org/drawingml/2006/main" noGrp="1"/>
          </p:cNvSpPr>
          <p:nvPr/>
        </p:nvSpPr>
        <p:spPr>
          <a:xfrm xmlns:a="http://schemas.openxmlformats.org/drawingml/2006/main">
            <a:off x="2305050" y="27813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51515"/>
                </a:solidFill>
                <a:latin typeface="Arial"/>
                <a:ea typeface="Arial"/>
                <a:cs typeface="Arial"/>
              </a:defRPr>
            </a:defPPr>
          </a:lstStyle>
          <a:p xmlns:a="http://schemas.openxmlformats.org/drawingml/2006/main">
            <a:pPr algn="l">
              <a:defRPr sz="2175" b="1">
                <a:solidFill>
                  <a:srgbClr val="151515"/>
                </a:solidFill>
                <a:latin typeface="Arial"/>
                <a:ea typeface="Arial"/>
                <a:cs typeface="Arial"/>
              </a:defRPr>
            </a:pPr>
            <a:r>
              <a:rPr sz="2175" b="1">
                <a:solidFill>
                  <a:srgbClr val="151515"/>
                </a:solidFill>
                <a:latin typeface="Arial"/>
                <a:ea typeface="Arial"/>
                <a:cs typeface="Arial"/>
              </a:rPr>
              <a:t>›</a:t>
            </a:r>
          </a:p>
        </p:txBody>
      </p:sp>
      <p:sp>
        <p:nvSpPr>
          <p:cNvPr id="11" name="video-stage-1">
            <a:extLst xmlns:a="http://schemas.openxmlformats.org/drawingml/2006/main">
              <a:ext uri="{FF2B5EF4-FFF2-40B4-BE49-F238E27FC236}">
                <a16:creationId xmlns:a16="http://schemas.microsoft.com/office/drawing/2014/main" id="{ECD8F7EF-3814-4DF7-A587-0B847F52CD52}"/>
              </a:ext>
            </a:extLst>
          </p:cNvPr>
          <p:cNvSpPr>
            <a:spLocks xmlns:a="http://schemas.openxmlformats.org/drawingml/2006/main" noGrp="1"/>
          </p:cNvSpPr>
          <p:nvPr/>
        </p:nvSpPr>
        <p:spPr>
          <a:xfrm xmlns:a="http://schemas.openxmlformats.org/drawingml/2006/main">
            <a:off x="2419350" y="1981200"/>
            <a:ext cx="171450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12" name="video-num-1">
            <a:extLst xmlns:a="http://schemas.openxmlformats.org/drawingml/2006/main">
              <a:ext uri="{FF2B5EF4-FFF2-40B4-BE49-F238E27FC236}">
                <a16:creationId xmlns:a16="http://schemas.microsoft.com/office/drawing/2014/main" id="{B02752E0-3D19-4D6D-A808-EC357DF05FCB}"/>
              </a:ext>
            </a:extLst>
          </p:cNvPr>
          <p:cNvSpPr>
            <a:spLocks xmlns:a="http://schemas.openxmlformats.org/drawingml/2006/main" noGrp="1"/>
          </p:cNvSpPr>
          <p:nvPr/>
        </p:nvSpPr>
        <p:spPr>
          <a:xfrm xmlns:a="http://schemas.openxmlformats.org/drawingml/2006/main">
            <a:off x="2571750" y="21336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02</a:t>
            </a:r>
          </a:p>
        </p:txBody>
      </p:sp>
      <p:sp>
        <p:nvSpPr>
          <p:cNvPr id="13" name="video-heading-1">
            <a:extLst xmlns:a="http://schemas.openxmlformats.org/drawingml/2006/main">
              <a:ext uri="{FF2B5EF4-FFF2-40B4-BE49-F238E27FC236}">
                <a16:creationId xmlns:a16="http://schemas.microsoft.com/office/drawing/2014/main" id="{87A3DF6C-0C0A-4BDF-B970-BFDA6DAF8955}"/>
              </a:ext>
            </a:extLst>
          </p:cNvPr>
          <p:cNvSpPr>
            <a:spLocks xmlns:a="http://schemas.openxmlformats.org/drawingml/2006/main" noGrp="1"/>
          </p:cNvSpPr>
          <p:nvPr/>
        </p:nvSpPr>
        <p:spPr>
          <a:xfrm xmlns:a="http://schemas.openxmlformats.org/drawingml/2006/main">
            <a:off x="2571750" y="2562225"/>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SCRIPT</a:t>
            </a:r>
          </a:p>
        </p:txBody>
      </p:sp>
      <p:sp>
        <p:nvSpPr>
          <p:cNvPr id="14" name="video-desc-1">
            <a:extLst xmlns:a="http://schemas.openxmlformats.org/drawingml/2006/main">
              <a:ext uri="{FF2B5EF4-FFF2-40B4-BE49-F238E27FC236}">
                <a16:creationId xmlns:a16="http://schemas.microsoft.com/office/drawing/2014/main" id="{A2D28972-7B98-4C8C-AE75-865D5BAC2139}"/>
              </a:ext>
            </a:extLst>
          </p:cNvPr>
          <p:cNvSpPr>
            <a:spLocks xmlns:a="http://schemas.openxmlformats.org/drawingml/2006/main" noGrp="1"/>
          </p:cNvSpPr>
          <p:nvPr/>
        </p:nvSpPr>
        <p:spPr>
          <a:xfrm xmlns:a="http://schemas.openxmlformats.org/drawingml/2006/main">
            <a:off x="2571750" y="3057525"/>
            <a:ext cx="140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51515"/>
                </a:solidFill>
                <a:latin typeface="Arial"/>
                <a:ea typeface="Arial"/>
                <a:cs typeface="Arial"/>
              </a:defRPr>
            </a:defPPr>
          </a:lstStyle>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Draft + editorial</a:t>
            </a:r>
          </a:p>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checks</a:t>
            </a:r>
          </a:p>
        </p:txBody>
      </p:sp>
      <p:sp>
        <p:nvSpPr>
          <p:cNvPr id="15" name="video-arr-1">
            <a:extLst xmlns:a="http://schemas.openxmlformats.org/drawingml/2006/main">
              <a:ext uri="{FF2B5EF4-FFF2-40B4-BE49-F238E27FC236}">
                <a16:creationId xmlns:a16="http://schemas.microsoft.com/office/drawing/2014/main" id="{AEEFE7D8-1F78-49BE-839A-5A4E39803614}"/>
              </a:ext>
            </a:extLst>
          </p:cNvPr>
          <p:cNvSpPr>
            <a:spLocks xmlns:a="http://schemas.openxmlformats.org/drawingml/2006/main" noGrp="1"/>
          </p:cNvSpPr>
          <p:nvPr/>
        </p:nvSpPr>
        <p:spPr>
          <a:xfrm xmlns:a="http://schemas.openxmlformats.org/drawingml/2006/main">
            <a:off x="4114800" y="27813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51515"/>
                </a:solidFill>
                <a:latin typeface="Arial"/>
                <a:ea typeface="Arial"/>
                <a:cs typeface="Arial"/>
              </a:defRPr>
            </a:defPPr>
          </a:lstStyle>
          <a:p xmlns:a="http://schemas.openxmlformats.org/drawingml/2006/main">
            <a:pPr algn="l">
              <a:defRPr sz="2175" b="1">
                <a:solidFill>
                  <a:srgbClr val="151515"/>
                </a:solidFill>
                <a:latin typeface="Arial"/>
                <a:ea typeface="Arial"/>
                <a:cs typeface="Arial"/>
              </a:defRPr>
            </a:pPr>
            <a:r>
              <a:rPr sz="2175" b="1">
                <a:solidFill>
                  <a:srgbClr val="151515"/>
                </a:solidFill>
                <a:latin typeface="Arial"/>
                <a:ea typeface="Arial"/>
                <a:cs typeface="Arial"/>
              </a:rPr>
              <a:t>›</a:t>
            </a:r>
          </a:p>
        </p:txBody>
      </p:sp>
      <p:sp>
        <p:nvSpPr>
          <p:cNvPr id="16" name="video-stage-2">
            <a:extLst xmlns:a="http://schemas.openxmlformats.org/drawingml/2006/main">
              <a:ext uri="{FF2B5EF4-FFF2-40B4-BE49-F238E27FC236}">
                <a16:creationId xmlns:a16="http://schemas.microsoft.com/office/drawing/2014/main" id="{2A7AA523-D9A4-436A-B4B8-1E6B8DCF81CC}"/>
              </a:ext>
            </a:extLst>
          </p:cNvPr>
          <p:cNvSpPr>
            <a:spLocks xmlns:a="http://schemas.openxmlformats.org/drawingml/2006/main" noGrp="1"/>
          </p:cNvSpPr>
          <p:nvPr/>
        </p:nvSpPr>
        <p:spPr>
          <a:xfrm xmlns:a="http://schemas.openxmlformats.org/drawingml/2006/main">
            <a:off x="4229100" y="1981200"/>
            <a:ext cx="171450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17" name="video-num-2">
            <a:extLst xmlns:a="http://schemas.openxmlformats.org/drawingml/2006/main">
              <a:ext uri="{FF2B5EF4-FFF2-40B4-BE49-F238E27FC236}">
                <a16:creationId xmlns:a16="http://schemas.microsoft.com/office/drawing/2014/main" id="{20BF7BCA-B602-448C-8872-43A04CDD742C}"/>
              </a:ext>
            </a:extLst>
          </p:cNvPr>
          <p:cNvSpPr>
            <a:spLocks xmlns:a="http://schemas.openxmlformats.org/drawingml/2006/main" noGrp="1"/>
          </p:cNvSpPr>
          <p:nvPr/>
        </p:nvSpPr>
        <p:spPr>
          <a:xfrm xmlns:a="http://schemas.openxmlformats.org/drawingml/2006/main">
            <a:off x="4381500" y="21336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03</a:t>
            </a:r>
          </a:p>
        </p:txBody>
      </p:sp>
      <p:sp>
        <p:nvSpPr>
          <p:cNvPr id="18" name="video-heading-2">
            <a:extLst xmlns:a="http://schemas.openxmlformats.org/drawingml/2006/main">
              <a:ext uri="{FF2B5EF4-FFF2-40B4-BE49-F238E27FC236}">
                <a16:creationId xmlns:a16="http://schemas.microsoft.com/office/drawing/2014/main" id="{839A50F0-965D-4AB5-AA8F-7D0A2350EB68}"/>
              </a:ext>
            </a:extLst>
          </p:cNvPr>
          <p:cNvSpPr>
            <a:spLocks xmlns:a="http://schemas.openxmlformats.org/drawingml/2006/main" noGrp="1"/>
          </p:cNvSpPr>
          <p:nvPr/>
        </p:nvSpPr>
        <p:spPr>
          <a:xfrm xmlns:a="http://schemas.openxmlformats.org/drawingml/2006/main">
            <a:off x="4381500" y="2562225"/>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VIDEO</a:t>
            </a:r>
          </a:p>
        </p:txBody>
      </p:sp>
      <p:sp>
        <p:nvSpPr>
          <p:cNvPr id="19" name="video-desc-2">
            <a:extLst xmlns:a="http://schemas.openxmlformats.org/drawingml/2006/main">
              <a:ext uri="{FF2B5EF4-FFF2-40B4-BE49-F238E27FC236}">
                <a16:creationId xmlns:a16="http://schemas.microsoft.com/office/drawing/2014/main" id="{540BF497-EFC2-4AA5-AEE5-9CA418B70AAF}"/>
              </a:ext>
            </a:extLst>
          </p:cNvPr>
          <p:cNvSpPr>
            <a:spLocks xmlns:a="http://schemas.openxmlformats.org/drawingml/2006/main" noGrp="1"/>
          </p:cNvSpPr>
          <p:nvPr/>
        </p:nvSpPr>
        <p:spPr>
          <a:xfrm xmlns:a="http://schemas.openxmlformats.org/drawingml/2006/main">
            <a:off x="4381500" y="3057525"/>
            <a:ext cx="140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51515"/>
                </a:solidFill>
                <a:latin typeface="Arial"/>
                <a:ea typeface="Arial"/>
                <a:cs typeface="Arial"/>
              </a:defRPr>
            </a:defPPr>
          </a:lstStyle>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Four vertical clips</a:t>
            </a:r>
          </a:p>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8 seconds each</a:t>
            </a:r>
          </a:p>
        </p:txBody>
      </p:sp>
      <p:sp>
        <p:nvSpPr>
          <p:cNvPr id="20" name="video-arr-2">
            <a:extLst xmlns:a="http://schemas.openxmlformats.org/drawingml/2006/main">
              <a:ext uri="{FF2B5EF4-FFF2-40B4-BE49-F238E27FC236}">
                <a16:creationId xmlns:a16="http://schemas.microsoft.com/office/drawing/2014/main" id="{1ECB6770-5767-4C8A-8342-4E679043DE80}"/>
              </a:ext>
            </a:extLst>
          </p:cNvPr>
          <p:cNvSpPr>
            <a:spLocks xmlns:a="http://schemas.openxmlformats.org/drawingml/2006/main" noGrp="1"/>
          </p:cNvSpPr>
          <p:nvPr/>
        </p:nvSpPr>
        <p:spPr>
          <a:xfrm xmlns:a="http://schemas.openxmlformats.org/drawingml/2006/main">
            <a:off x="5924550" y="27813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51515"/>
                </a:solidFill>
                <a:latin typeface="Arial"/>
                <a:ea typeface="Arial"/>
                <a:cs typeface="Arial"/>
              </a:defRPr>
            </a:defPPr>
          </a:lstStyle>
          <a:p xmlns:a="http://schemas.openxmlformats.org/drawingml/2006/main">
            <a:pPr algn="l">
              <a:defRPr sz="2175" b="1">
                <a:solidFill>
                  <a:srgbClr val="151515"/>
                </a:solidFill>
                <a:latin typeface="Arial"/>
                <a:ea typeface="Arial"/>
                <a:cs typeface="Arial"/>
              </a:defRPr>
            </a:pPr>
            <a:r>
              <a:rPr sz="2175" b="1">
                <a:solidFill>
                  <a:srgbClr val="151515"/>
                </a:solidFill>
                <a:latin typeface="Arial"/>
                <a:ea typeface="Arial"/>
                <a:cs typeface="Arial"/>
              </a:rPr>
              <a:t>›</a:t>
            </a:r>
          </a:p>
        </p:txBody>
      </p:sp>
      <p:sp>
        <p:nvSpPr>
          <p:cNvPr id="21" name="video-stage-3">
            <a:extLst xmlns:a="http://schemas.openxmlformats.org/drawingml/2006/main">
              <a:ext uri="{FF2B5EF4-FFF2-40B4-BE49-F238E27FC236}">
                <a16:creationId xmlns:a16="http://schemas.microsoft.com/office/drawing/2014/main" id="{D70CB93F-B0E1-4299-BEEC-A95AB1786926}"/>
              </a:ext>
            </a:extLst>
          </p:cNvPr>
          <p:cNvSpPr>
            <a:spLocks xmlns:a="http://schemas.openxmlformats.org/drawingml/2006/main" noGrp="1"/>
          </p:cNvSpPr>
          <p:nvPr/>
        </p:nvSpPr>
        <p:spPr>
          <a:xfrm xmlns:a="http://schemas.openxmlformats.org/drawingml/2006/main">
            <a:off x="6038850" y="1981200"/>
            <a:ext cx="171450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22" name="video-num-3">
            <a:extLst xmlns:a="http://schemas.openxmlformats.org/drawingml/2006/main">
              <a:ext uri="{FF2B5EF4-FFF2-40B4-BE49-F238E27FC236}">
                <a16:creationId xmlns:a16="http://schemas.microsoft.com/office/drawing/2014/main" id="{D6BED250-49DB-4AD3-85F0-02642734D23A}"/>
              </a:ext>
            </a:extLst>
          </p:cNvPr>
          <p:cNvSpPr>
            <a:spLocks xmlns:a="http://schemas.openxmlformats.org/drawingml/2006/main" noGrp="1"/>
          </p:cNvSpPr>
          <p:nvPr/>
        </p:nvSpPr>
        <p:spPr>
          <a:xfrm xmlns:a="http://schemas.openxmlformats.org/drawingml/2006/main">
            <a:off x="6191250" y="21336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04</a:t>
            </a:r>
          </a:p>
        </p:txBody>
      </p:sp>
      <p:sp>
        <p:nvSpPr>
          <p:cNvPr id="23" name="video-heading-3">
            <a:extLst xmlns:a="http://schemas.openxmlformats.org/drawingml/2006/main">
              <a:ext uri="{FF2B5EF4-FFF2-40B4-BE49-F238E27FC236}">
                <a16:creationId xmlns:a16="http://schemas.microsoft.com/office/drawing/2014/main" id="{C1FA4718-0C31-4A3D-B648-E2660C134B54}"/>
              </a:ext>
            </a:extLst>
          </p:cNvPr>
          <p:cNvSpPr>
            <a:spLocks xmlns:a="http://schemas.openxmlformats.org/drawingml/2006/main" noGrp="1"/>
          </p:cNvSpPr>
          <p:nvPr/>
        </p:nvSpPr>
        <p:spPr>
          <a:xfrm xmlns:a="http://schemas.openxmlformats.org/drawingml/2006/main">
            <a:off x="6191250" y="2562225"/>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ASSEMBLE</a:t>
            </a:r>
          </a:p>
        </p:txBody>
      </p:sp>
      <p:sp>
        <p:nvSpPr>
          <p:cNvPr id="24" name="video-desc-3">
            <a:extLst xmlns:a="http://schemas.openxmlformats.org/drawingml/2006/main">
              <a:ext uri="{FF2B5EF4-FFF2-40B4-BE49-F238E27FC236}">
                <a16:creationId xmlns:a16="http://schemas.microsoft.com/office/drawing/2014/main" id="{7E398331-2134-4EF0-A70C-9AF237008960}"/>
              </a:ext>
            </a:extLst>
          </p:cNvPr>
          <p:cNvSpPr>
            <a:spLocks xmlns:a="http://schemas.openxmlformats.org/drawingml/2006/main" noGrp="1"/>
          </p:cNvSpPr>
          <p:nvPr/>
        </p:nvSpPr>
        <p:spPr>
          <a:xfrm xmlns:a="http://schemas.openxmlformats.org/drawingml/2006/main">
            <a:off x="6191250" y="3057525"/>
            <a:ext cx="140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51515"/>
                </a:solidFill>
                <a:latin typeface="Arial"/>
                <a:ea typeface="Arial"/>
                <a:cs typeface="Arial"/>
              </a:defRPr>
            </a:defPPr>
          </a:lstStyle>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Captions + sources</a:t>
            </a:r>
          </a:p>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 final cut</a:t>
            </a:r>
          </a:p>
        </p:txBody>
      </p:sp>
      <p:sp>
        <p:nvSpPr>
          <p:cNvPr id="25" name="video-arr-3">
            <a:extLst xmlns:a="http://schemas.openxmlformats.org/drawingml/2006/main">
              <a:ext uri="{FF2B5EF4-FFF2-40B4-BE49-F238E27FC236}">
                <a16:creationId xmlns:a16="http://schemas.microsoft.com/office/drawing/2014/main" id="{C8AB59E5-3EE4-4F43-8068-34E3DA0B46EC}"/>
              </a:ext>
            </a:extLst>
          </p:cNvPr>
          <p:cNvSpPr>
            <a:spLocks xmlns:a="http://schemas.openxmlformats.org/drawingml/2006/main" noGrp="1"/>
          </p:cNvSpPr>
          <p:nvPr/>
        </p:nvSpPr>
        <p:spPr>
          <a:xfrm xmlns:a="http://schemas.openxmlformats.org/drawingml/2006/main">
            <a:off x="7734300" y="27813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51515"/>
                </a:solidFill>
                <a:latin typeface="Arial"/>
                <a:ea typeface="Arial"/>
                <a:cs typeface="Arial"/>
              </a:defRPr>
            </a:defPPr>
          </a:lstStyle>
          <a:p xmlns:a="http://schemas.openxmlformats.org/drawingml/2006/main">
            <a:pPr algn="l">
              <a:defRPr sz="2175" b="1">
                <a:solidFill>
                  <a:srgbClr val="151515"/>
                </a:solidFill>
                <a:latin typeface="Arial"/>
                <a:ea typeface="Arial"/>
                <a:cs typeface="Arial"/>
              </a:defRPr>
            </a:pPr>
            <a:r>
              <a:rPr sz="2175" b="1">
                <a:solidFill>
                  <a:srgbClr val="151515"/>
                </a:solidFill>
                <a:latin typeface="Arial"/>
                <a:ea typeface="Arial"/>
                <a:cs typeface="Arial"/>
              </a:rPr>
              <a:t>›</a:t>
            </a:r>
          </a:p>
        </p:txBody>
      </p:sp>
      <p:sp>
        <p:nvSpPr>
          <p:cNvPr id="26" name="video-stage-4">
            <a:extLst xmlns:a="http://schemas.openxmlformats.org/drawingml/2006/main">
              <a:ext uri="{FF2B5EF4-FFF2-40B4-BE49-F238E27FC236}">
                <a16:creationId xmlns:a16="http://schemas.microsoft.com/office/drawing/2014/main" id="{2B48E0D7-277E-48DE-9427-B569F0F27928}"/>
              </a:ext>
            </a:extLst>
          </p:cNvPr>
          <p:cNvSpPr>
            <a:spLocks xmlns:a="http://schemas.openxmlformats.org/drawingml/2006/main" noGrp="1"/>
          </p:cNvSpPr>
          <p:nvPr/>
        </p:nvSpPr>
        <p:spPr>
          <a:xfrm xmlns:a="http://schemas.openxmlformats.org/drawingml/2006/main">
            <a:off x="7848600" y="1981200"/>
            <a:ext cx="1714500" cy="2095500"/>
          </a:xfrm>
          <a:prstGeom xmlns:a="http://schemas.openxmlformats.org/drawingml/2006/main" prst="rect">
            <a:avLst/>
          </a:prstGeom>
          <a:solidFill xmlns:a="http://schemas.openxmlformats.org/drawingml/2006/main">
            <a:srgbClr val="E9FF42"/>
          </a:solidFill>
          <a:ln xmlns:a="http://schemas.openxmlformats.org/drawingml/2006/main" w="28575">
            <a:solidFill>
              <a:srgbClr val="151515"/>
            </a:solidFill>
            <a:prstDash val="solid"/>
          </a:ln>
        </p:spPr>
      </p:sp>
      <p:sp>
        <p:nvSpPr>
          <p:cNvPr id="27" name="video-num-4">
            <a:extLst xmlns:a="http://schemas.openxmlformats.org/drawingml/2006/main">
              <a:ext uri="{FF2B5EF4-FFF2-40B4-BE49-F238E27FC236}">
                <a16:creationId xmlns:a16="http://schemas.microsoft.com/office/drawing/2014/main" id="{251B1954-006C-44F5-873A-09F84A77C1A2}"/>
              </a:ext>
            </a:extLst>
          </p:cNvPr>
          <p:cNvSpPr>
            <a:spLocks xmlns:a="http://schemas.openxmlformats.org/drawingml/2006/main" noGrp="1"/>
          </p:cNvSpPr>
          <p:nvPr/>
        </p:nvSpPr>
        <p:spPr>
          <a:xfrm xmlns:a="http://schemas.openxmlformats.org/drawingml/2006/main">
            <a:off x="8001000" y="21336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05</a:t>
            </a:r>
          </a:p>
        </p:txBody>
      </p:sp>
      <p:sp>
        <p:nvSpPr>
          <p:cNvPr id="28" name="video-heading-4">
            <a:extLst xmlns:a="http://schemas.openxmlformats.org/drawingml/2006/main">
              <a:ext uri="{FF2B5EF4-FFF2-40B4-BE49-F238E27FC236}">
                <a16:creationId xmlns:a16="http://schemas.microsoft.com/office/drawing/2014/main" id="{2BEEF2C9-64DE-4A4C-887F-CEE0DCF6F725}"/>
              </a:ext>
            </a:extLst>
          </p:cNvPr>
          <p:cNvSpPr>
            <a:spLocks xmlns:a="http://schemas.openxmlformats.org/drawingml/2006/main" noGrp="1"/>
          </p:cNvSpPr>
          <p:nvPr/>
        </p:nvSpPr>
        <p:spPr>
          <a:xfrm xmlns:a="http://schemas.openxmlformats.org/drawingml/2006/main">
            <a:off x="8001000" y="2562225"/>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REVIEW</a:t>
            </a:r>
          </a:p>
        </p:txBody>
      </p:sp>
      <p:sp>
        <p:nvSpPr>
          <p:cNvPr id="29" name="video-desc-4">
            <a:extLst xmlns:a="http://schemas.openxmlformats.org/drawingml/2006/main">
              <a:ext uri="{FF2B5EF4-FFF2-40B4-BE49-F238E27FC236}">
                <a16:creationId xmlns:a16="http://schemas.microsoft.com/office/drawing/2014/main" id="{FFBF65E5-204D-4A3D-BE2B-5B566D32451D}"/>
              </a:ext>
            </a:extLst>
          </p:cNvPr>
          <p:cNvSpPr>
            <a:spLocks xmlns:a="http://schemas.openxmlformats.org/drawingml/2006/main" noGrp="1"/>
          </p:cNvSpPr>
          <p:nvPr/>
        </p:nvSpPr>
        <p:spPr>
          <a:xfrm xmlns:a="http://schemas.openxmlformats.org/drawingml/2006/main">
            <a:off x="8001000" y="3057525"/>
            <a:ext cx="140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51515"/>
                </a:solidFill>
                <a:latin typeface="Arial"/>
                <a:ea typeface="Arial"/>
                <a:cs typeface="Arial"/>
              </a:defRPr>
            </a:defPPr>
          </a:lstStyle>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Human approval</a:t>
            </a:r>
          </a:p>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before release</a:t>
            </a:r>
          </a:p>
        </p:txBody>
      </p:sp>
      <p:sp>
        <p:nvSpPr>
          <p:cNvPr id="30" name="video-arr-4">
            <a:extLst xmlns:a="http://schemas.openxmlformats.org/drawingml/2006/main">
              <a:ext uri="{FF2B5EF4-FFF2-40B4-BE49-F238E27FC236}">
                <a16:creationId xmlns:a16="http://schemas.microsoft.com/office/drawing/2014/main" id="{A6CEF4FA-6E7A-4CD7-9429-CB1019E9E263}"/>
              </a:ext>
            </a:extLst>
          </p:cNvPr>
          <p:cNvSpPr>
            <a:spLocks xmlns:a="http://schemas.openxmlformats.org/drawingml/2006/main" noGrp="1"/>
          </p:cNvSpPr>
          <p:nvPr/>
        </p:nvSpPr>
        <p:spPr>
          <a:xfrm xmlns:a="http://schemas.openxmlformats.org/drawingml/2006/main">
            <a:off x="9544050" y="27813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51515"/>
                </a:solidFill>
                <a:latin typeface="Arial"/>
                <a:ea typeface="Arial"/>
                <a:cs typeface="Arial"/>
              </a:defRPr>
            </a:defPPr>
          </a:lstStyle>
          <a:p xmlns:a="http://schemas.openxmlformats.org/drawingml/2006/main">
            <a:pPr algn="l">
              <a:defRPr sz="2175" b="1">
                <a:solidFill>
                  <a:srgbClr val="151515"/>
                </a:solidFill>
                <a:latin typeface="Arial"/>
                <a:ea typeface="Arial"/>
                <a:cs typeface="Arial"/>
              </a:defRPr>
            </a:pPr>
            <a:r>
              <a:rPr sz="2175" b="1">
                <a:solidFill>
                  <a:srgbClr val="151515"/>
                </a:solidFill>
                <a:latin typeface="Arial"/>
                <a:ea typeface="Arial"/>
                <a:cs typeface="Arial"/>
              </a:rPr>
              <a:t>›</a:t>
            </a:r>
          </a:p>
        </p:txBody>
      </p:sp>
      <p:sp>
        <p:nvSpPr>
          <p:cNvPr id="31" name="video-stage-5">
            <a:extLst xmlns:a="http://schemas.openxmlformats.org/drawingml/2006/main">
              <a:ext uri="{FF2B5EF4-FFF2-40B4-BE49-F238E27FC236}">
                <a16:creationId xmlns:a16="http://schemas.microsoft.com/office/drawing/2014/main" id="{4FDB8546-34C7-4A44-BA58-F0114D2F06BD}"/>
              </a:ext>
            </a:extLst>
          </p:cNvPr>
          <p:cNvSpPr>
            <a:spLocks xmlns:a="http://schemas.openxmlformats.org/drawingml/2006/main" noGrp="1"/>
          </p:cNvSpPr>
          <p:nvPr/>
        </p:nvSpPr>
        <p:spPr>
          <a:xfrm xmlns:a="http://schemas.openxmlformats.org/drawingml/2006/main">
            <a:off x="9658350" y="1981200"/>
            <a:ext cx="1714500" cy="20955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32" name="video-num-5">
            <a:extLst xmlns:a="http://schemas.openxmlformats.org/drawingml/2006/main">
              <a:ext uri="{FF2B5EF4-FFF2-40B4-BE49-F238E27FC236}">
                <a16:creationId xmlns:a16="http://schemas.microsoft.com/office/drawing/2014/main" id="{DB7099CC-6E29-414A-9C6E-AC70345F5A3D}"/>
              </a:ext>
            </a:extLst>
          </p:cNvPr>
          <p:cNvSpPr>
            <a:spLocks xmlns:a="http://schemas.openxmlformats.org/drawingml/2006/main" noGrp="1"/>
          </p:cNvSpPr>
          <p:nvPr/>
        </p:nvSpPr>
        <p:spPr>
          <a:xfrm xmlns:a="http://schemas.openxmlformats.org/drawingml/2006/main">
            <a:off x="9810750" y="21336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2758E8"/>
                </a:solidFill>
                <a:latin typeface="Arial"/>
                <a:ea typeface="Arial"/>
                <a:cs typeface="Arial"/>
              </a:defRPr>
            </a:defPPr>
          </a:lstStyle>
          <a:p xmlns:a="http://schemas.openxmlformats.org/drawingml/2006/main">
            <a:pPr algn="l">
              <a:defRPr sz="1350" b="1">
                <a:solidFill>
                  <a:srgbClr val="2758E8"/>
                </a:solidFill>
                <a:latin typeface="Arial"/>
                <a:ea typeface="Arial"/>
                <a:cs typeface="Arial"/>
              </a:defRPr>
            </a:pPr>
            <a:r>
              <a:rPr sz="1350" b="1">
                <a:solidFill>
                  <a:srgbClr val="2758E8"/>
                </a:solidFill>
                <a:latin typeface="Arial"/>
                <a:ea typeface="Arial"/>
                <a:cs typeface="Arial"/>
              </a:rPr>
              <a:t>06</a:t>
            </a:r>
          </a:p>
        </p:txBody>
      </p:sp>
      <p:sp>
        <p:nvSpPr>
          <p:cNvPr id="33" name="video-heading-5">
            <a:extLst xmlns:a="http://schemas.openxmlformats.org/drawingml/2006/main">
              <a:ext uri="{FF2B5EF4-FFF2-40B4-BE49-F238E27FC236}">
                <a16:creationId xmlns:a16="http://schemas.microsoft.com/office/drawing/2014/main" id="{998284B2-B0B2-4B6F-889B-A2F75EB22428}"/>
              </a:ext>
            </a:extLst>
          </p:cNvPr>
          <p:cNvSpPr>
            <a:spLocks xmlns:a="http://schemas.openxmlformats.org/drawingml/2006/main" noGrp="1"/>
          </p:cNvSpPr>
          <p:nvPr/>
        </p:nvSpPr>
        <p:spPr>
          <a:xfrm xmlns:a="http://schemas.openxmlformats.org/drawingml/2006/main">
            <a:off x="9810750" y="2562225"/>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PUBLISH</a:t>
            </a:r>
          </a:p>
        </p:txBody>
      </p:sp>
      <p:sp>
        <p:nvSpPr>
          <p:cNvPr id="34" name="video-desc-5">
            <a:extLst xmlns:a="http://schemas.openxmlformats.org/drawingml/2006/main">
              <a:ext uri="{FF2B5EF4-FFF2-40B4-BE49-F238E27FC236}">
                <a16:creationId xmlns:a16="http://schemas.microsoft.com/office/drawing/2014/main" id="{68C91734-00F9-481B-9897-33635CC43FF8}"/>
              </a:ext>
            </a:extLst>
          </p:cNvPr>
          <p:cNvSpPr>
            <a:spLocks xmlns:a="http://schemas.openxmlformats.org/drawingml/2006/main" noGrp="1"/>
          </p:cNvSpPr>
          <p:nvPr/>
        </p:nvSpPr>
        <p:spPr>
          <a:xfrm xmlns:a="http://schemas.openxmlformats.org/drawingml/2006/main">
            <a:off x="9810750" y="3057525"/>
            <a:ext cx="140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0">
                <a:solidFill>
                  <a:srgbClr val="151515"/>
                </a:solidFill>
                <a:latin typeface="Arial"/>
                <a:ea typeface="Arial"/>
                <a:cs typeface="Arial"/>
              </a:defRPr>
            </a:defPPr>
          </a:lstStyle>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Make.com pull →</a:t>
            </a:r>
          </a:p>
          <a:p xmlns:a="http://schemas.openxmlformats.org/drawingml/2006/main">
            <a:pPr algn="l">
              <a:defRPr sz="1275" b="0">
                <a:solidFill>
                  <a:srgbClr val="151515"/>
                </a:solidFill>
                <a:latin typeface="Arial"/>
                <a:ea typeface="Arial"/>
                <a:cs typeface="Arial"/>
              </a:defRPr>
            </a:pPr>
            <a:r>
              <a:rPr sz="1275" b="0">
                <a:solidFill>
                  <a:srgbClr val="151515"/>
                </a:solidFill>
                <a:latin typeface="Arial"/>
                <a:ea typeface="Arial"/>
                <a:cs typeface="Arial"/>
              </a:rPr>
              <a:t>Instagram Reel</a:t>
            </a:r>
          </a:p>
        </p:txBody>
      </p:sp>
      <p:sp>
        <p:nvSpPr>
          <p:cNvPr id="35" name="status-caveat">
            <a:extLst xmlns:a="http://schemas.openxmlformats.org/drawingml/2006/main">
              <a:ext uri="{FF2B5EF4-FFF2-40B4-BE49-F238E27FC236}">
                <a16:creationId xmlns:a16="http://schemas.microsoft.com/office/drawing/2014/main" id="{ADFD80CA-2A39-4C73-9365-8BFA6CC2988B}"/>
              </a:ext>
            </a:extLst>
          </p:cNvPr>
          <p:cNvSpPr>
            <a:spLocks xmlns:a="http://schemas.openxmlformats.org/drawingml/2006/main" noGrp="1"/>
          </p:cNvSpPr>
          <p:nvPr/>
        </p:nvSpPr>
        <p:spPr>
          <a:xfrm xmlns:a="http://schemas.openxmlformats.org/drawingml/2006/main">
            <a:off x="609600" y="4419600"/>
            <a:ext cx="10972800" cy="1276350"/>
          </a:xfrm>
          <a:prstGeom xmlns:a="http://schemas.openxmlformats.org/drawingml/2006/main" prst="rect">
            <a:avLst/>
          </a:prstGeom>
          <a:solidFill xmlns:a="http://schemas.openxmlformats.org/drawingml/2006/main">
            <a:srgbClr val="E9FF42"/>
          </a:solidFill>
          <a:ln xmlns:a="http://schemas.openxmlformats.org/drawingml/2006/main" w="28575">
            <a:solidFill>
              <a:srgbClr val="151515"/>
            </a:solidFill>
            <a:prstDash val="solid"/>
          </a:ln>
        </p:spPr>
      </p:sp>
      <p:sp>
        <p:nvSpPr>
          <p:cNvPr id="36" name="status-kicker">
            <a:extLst xmlns:a="http://schemas.openxmlformats.org/drawingml/2006/main">
              <a:ext uri="{FF2B5EF4-FFF2-40B4-BE49-F238E27FC236}">
                <a16:creationId xmlns:a16="http://schemas.microsoft.com/office/drawing/2014/main" id="{11275F3F-47AC-44C1-AE67-A4AABAFCFE53}"/>
              </a:ext>
            </a:extLst>
          </p:cNvPr>
          <p:cNvSpPr>
            <a:spLocks xmlns:a="http://schemas.openxmlformats.org/drawingml/2006/main" noGrp="1"/>
          </p:cNvSpPr>
          <p:nvPr/>
        </p:nvSpPr>
        <p:spPr>
          <a:xfrm xmlns:a="http://schemas.openxmlformats.org/drawingml/2006/main">
            <a:off x="838200" y="4572000"/>
            <a:ext cx="10429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151515"/>
                </a:solidFill>
                <a:latin typeface="Arial"/>
                <a:ea typeface="Arial"/>
                <a:cs typeface="Arial"/>
              </a:defRPr>
            </a:defPPr>
          </a:lstStyle>
          <a:p xmlns:a="http://schemas.openxmlformats.org/drawingml/2006/main">
            <a:pPr algn="l">
              <a:defRPr sz="1200" b="1">
                <a:solidFill>
                  <a:srgbClr val="151515"/>
                </a:solidFill>
                <a:latin typeface="Arial"/>
                <a:ea typeface="Arial"/>
                <a:cs typeface="Arial"/>
              </a:defRPr>
            </a:pPr>
            <a:r>
              <a:rPr sz="1200" b="1">
                <a:solidFill>
                  <a:srgbClr val="151515"/>
                </a:solidFill>
                <a:latin typeface="Arial"/>
                <a:ea typeface="Arial"/>
                <a:cs typeface="Arial"/>
              </a:rPr>
              <a:t>STATUS — SEPARATE VIDEO TRACK</a:t>
            </a:r>
          </a:p>
        </p:txBody>
      </p:sp>
      <p:sp>
        <p:nvSpPr>
          <p:cNvPr id="37" name="status-copy">
            <a:extLst xmlns:a="http://schemas.openxmlformats.org/drawingml/2006/main">
              <a:ext uri="{FF2B5EF4-FFF2-40B4-BE49-F238E27FC236}">
                <a16:creationId xmlns:a16="http://schemas.microsoft.com/office/drawing/2014/main" id="{1429E5D5-B16E-4381-BC8E-E51BD6CD5BEB}"/>
              </a:ext>
            </a:extLst>
          </p:cNvPr>
          <p:cNvSpPr>
            <a:spLocks xmlns:a="http://schemas.openxmlformats.org/drawingml/2006/main" noGrp="1"/>
          </p:cNvSpPr>
          <p:nvPr/>
        </p:nvSpPr>
        <p:spPr>
          <a:xfrm xmlns:a="http://schemas.openxmlformats.org/drawingml/2006/main">
            <a:off x="838200" y="4924425"/>
            <a:ext cx="10429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51515"/>
                </a:solidFill>
                <a:latin typeface="Arial"/>
                <a:ea typeface="Arial"/>
                <a:cs typeface="Arial"/>
              </a:defRPr>
            </a:defPPr>
          </a:lstStyle>
          <a:p xmlns:a="http://schemas.openxmlformats.org/drawingml/2006/main">
            <a:pPr algn="l">
              <a:defRPr sz="1725" b="1">
                <a:solidFill>
                  <a:srgbClr val="151515"/>
                </a:solidFill>
                <a:latin typeface="Arial"/>
                <a:ea typeface="Arial"/>
                <a:cs typeface="Arial"/>
              </a:defRPr>
            </a:pPr>
            <a:r>
              <a:rPr sz="1725" b="1">
                <a:solidFill>
                  <a:srgbClr val="151515"/>
                </a:solidFill>
                <a:latin typeface="Arial"/>
                <a:ea typeface="Arial"/>
                <a:cs typeface="Arial"/>
              </a:rPr>
              <a:t>Scheduler is paused while editorial and quality work is completed. Public auto-posting is not active.</a:t>
            </a:r>
          </a:p>
        </p:txBody>
      </p:sp>
    </p:spTree>
    <p:extLst>
      <p:ext uri="{BB962C8B-B14F-4D97-AF65-F5344CB8AC3E}">
        <p14:creationId xmlns:p14="http://schemas.microsoft.com/office/powerpoint/2010/main" val="1424765092"/>
      </p:ext>
    </p:extLst>
  </p:cSld>
</p:sld>
</file>

<file path=ppt/slides/slide6.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24" name="section-kicker">
            <a:extLst xmlns:a="http://schemas.openxmlformats.org/drawingml/2006/main">
              <a:ext uri="{FF2B5EF4-FFF2-40B4-BE49-F238E27FC236}">
                <a16:creationId xmlns:a16="http://schemas.microsoft.com/office/drawing/2014/main" id="{9C23CB9A-5F5B-4FE6-9971-A7349E666278}"/>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AUTOMATION + WEBSITE</a:t>
            </a:r>
          </a:p>
        </p:txBody>
      </p:sp>
      <p:sp>
        <p:nvSpPr>
          <p:cNvPr id="2" name="slide-title">
            <a:extLst xmlns:a="http://schemas.openxmlformats.org/drawingml/2006/main">
              <a:ext uri="{FF2B5EF4-FFF2-40B4-BE49-F238E27FC236}">
                <a16:creationId xmlns:a16="http://schemas.microsoft.com/office/drawing/2014/main" id="{F938EFE4-38EA-45B7-BC28-F989918AA83D}"/>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The website is the reader’s control surface</a:t>
            </a:r>
          </a:p>
        </p:txBody>
      </p:sp>
      <p:sp>
        <p:nvSpPr>
          <p:cNvPr id="3" name="">
            <a:extLst xmlns:a="http://schemas.openxmlformats.org/drawingml/2006/main">
              <a:ext uri="{FF2B5EF4-FFF2-40B4-BE49-F238E27FC236}">
                <a16:creationId xmlns:a16="http://schemas.microsoft.com/office/drawing/2014/main" id="{55F92C94-1D5B-4BB4-803F-10279C6A0FCE}"/>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99506814-19AC-4A73-B4CF-75BBDEB9CB15}"/>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402A7506-BF3A-460E-8159-967996E003EB}"/>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06 / 09</a:t>
            </a:r>
          </a:p>
        </p:txBody>
      </p:sp>
      <p:sp>
        <p:nvSpPr>
          <p:cNvPr id="6" name="site-nav-bar">
            <a:extLst xmlns:a="http://schemas.openxmlformats.org/drawingml/2006/main">
              <a:ext uri="{FF2B5EF4-FFF2-40B4-BE49-F238E27FC236}">
                <a16:creationId xmlns:a16="http://schemas.microsoft.com/office/drawing/2014/main" id="{9CBD2772-0783-4637-B13B-01A7E01310F4}"/>
              </a:ext>
            </a:extLst>
          </p:cNvPr>
          <p:cNvSpPr>
            <a:spLocks xmlns:a="http://schemas.openxmlformats.org/drawingml/2006/main" noGrp="1"/>
          </p:cNvSpPr>
          <p:nvPr/>
        </p:nvSpPr>
        <p:spPr>
          <a:xfrm xmlns:a="http://schemas.openxmlformats.org/drawingml/2006/main">
            <a:off x="609600" y="1657350"/>
            <a:ext cx="10972800" cy="552450"/>
          </a:xfrm>
          <a:prstGeom xmlns:a="http://schemas.openxmlformats.org/drawingml/2006/main" prst="rect">
            <a:avLst/>
          </a:prstGeom>
          <a:solidFill xmlns:a="http://schemas.openxmlformats.org/drawingml/2006/main">
            <a:srgbClr val="151515"/>
          </a:solidFill>
          <a:ln xmlns:a="http://schemas.openxmlformats.org/drawingml/2006/main" w="0">
            <a:solidFill>
              <a:srgbClr val="151515"/>
            </a:solidFill>
            <a:prstDash val="solid"/>
          </a:ln>
        </p:spPr>
      </p:sp>
      <p:sp>
        <p:nvSpPr>
          <p:cNvPr id="7" name="site-wordmark">
            <a:extLst xmlns:a="http://schemas.openxmlformats.org/drawingml/2006/main">
              <a:ext uri="{FF2B5EF4-FFF2-40B4-BE49-F238E27FC236}">
                <a16:creationId xmlns:a16="http://schemas.microsoft.com/office/drawing/2014/main" id="{9A52ECDC-7CE3-4397-83F6-1644BFD74358}"/>
              </a:ext>
            </a:extLst>
          </p:cNvPr>
          <p:cNvSpPr>
            <a:spLocks xmlns:a="http://schemas.openxmlformats.org/drawingml/2006/main" noGrp="1"/>
          </p:cNvSpPr>
          <p:nvPr/>
        </p:nvSpPr>
        <p:spPr>
          <a:xfrm xmlns:a="http://schemas.openxmlformats.org/drawingml/2006/main">
            <a:off x="800100" y="1743075"/>
            <a:ext cx="1924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WEAWARE</a:t>
            </a:r>
          </a:p>
        </p:txBody>
      </p:sp>
      <p:sp>
        <p:nvSpPr>
          <p:cNvPr id="8" name="site-nav-links">
            <a:extLst xmlns:a="http://schemas.openxmlformats.org/drawingml/2006/main">
              <a:ext uri="{FF2B5EF4-FFF2-40B4-BE49-F238E27FC236}">
                <a16:creationId xmlns:a16="http://schemas.microsoft.com/office/drawing/2014/main" id="{2EA01833-457F-4F32-B0BB-5D72322B746B}"/>
              </a:ext>
            </a:extLst>
          </p:cNvPr>
          <p:cNvSpPr>
            <a:spLocks xmlns:a="http://schemas.openxmlformats.org/drawingml/2006/main" noGrp="1"/>
          </p:cNvSpPr>
          <p:nvPr/>
        </p:nvSpPr>
        <p:spPr>
          <a:xfrm xmlns:a="http://schemas.openxmlformats.org/drawingml/2006/main">
            <a:off x="3562350" y="1752600"/>
            <a:ext cx="6686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FEED     NEWSLETTERS     PODCASTS     ABOUT</a:t>
            </a:r>
          </a:p>
        </p:txBody>
      </p:sp>
      <p:sp>
        <p:nvSpPr>
          <p:cNvPr id="9" name="site-left">
            <a:extLst xmlns:a="http://schemas.openxmlformats.org/drawingml/2006/main">
              <a:ext uri="{FF2B5EF4-FFF2-40B4-BE49-F238E27FC236}">
                <a16:creationId xmlns:a16="http://schemas.microsoft.com/office/drawing/2014/main" id="{3CD499EC-1EED-461D-A05E-E54C6D8A5DCD}"/>
              </a:ext>
            </a:extLst>
          </p:cNvPr>
          <p:cNvSpPr>
            <a:spLocks xmlns:a="http://schemas.openxmlformats.org/drawingml/2006/main" noGrp="1"/>
          </p:cNvSpPr>
          <p:nvPr/>
        </p:nvSpPr>
        <p:spPr>
          <a:xfrm xmlns:a="http://schemas.openxmlformats.org/drawingml/2006/main">
            <a:off x="609600" y="2495550"/>
            <a:ext cx="5305425" cy="2895600"/>
          </a:xfrm>
          <a:prstGeom xmlns:a="http://schemas.openxmlformats.org/drawingml/2006/main" prst="rect">
            <a:avLst/>
          </a:prstGeom>
          <a:solidFill xmlns:a="http://schemas.openxmlformats.org/drawingml/2006/main">
            <a:srgbClr val="E9FF42"/>
          </a:solidFill>
          <a:ln xmlns:a="http://schemas.openxmlformats.org/drawingml/2006/main" w="38100">
            <a:solidFill>
              <a:srgbClr val="151515"/>
            </a:solidFill>
            <a:prstDash val="solid"/>
          </a:ln>
        </p:spPr>
      </p:sp>
      <p:sp>
        <p:nvSpPr>
          <p:cNvPr id="10" name="site-feed-kicker">
            <a:extLst xmlns:a="http://schemas.openxmlformats.org/drawingml/2006/main">
              <a:ext uri="{FF2B5EF4-FFF2-40B4-BE49-F238E27FC236}">
                <a16:creationId xmlns:a16="http://schemas.microsoft.com/office/drawing/2014/main" id="{51BF8E4D-134B-44B8-9BF1-A77157483265}"/>
              </a:ext>
            </a:extLst>
          </p:cNvPr>
          <p:cNvSpPr>
            <a:spLocks xmlns:a="http://schemas.openxmlformats.org/drawingml/2006/main" noGrp="1"/>
          </p:cNvSpPr>
          <p:nvPr/>
        </p:nvSpPr>
        <p:spPr>
          <a:xfrm xmlns:a="http://schemas.openxmlformats.org/drawingml/2006/main">
            <a:off x="914400" y="2771775"/>
            <a:ext cx="4591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2758E8"/>
                </a:solidFill>
                <a:latin typeface="Arial"/>
                <a:ea typeface="Arial"/>
                <a:cs typeface="Arial"/>
              </a:defRPr>
            </a:defPPr>
          </a:lstStyle>
          <a:p xmlns:a="http://schemas.openxmlformats.org/drawingml/2006/main">
            <a:pPr algn="l">
              <a:defRPr sz="1275" b="1">
                <a:solidFill>
                  <a:srgbClr val="2758E8"/>
                </a:solidFill>
                <a:latin typeface="Arial"/>
                <a:ea typeface="Arial"/>
                <a:cs typeface="Arial"/>
              </a:defRPr>
            </a:pPr>
            <a:r>
              <a:rPr sz="1275" b="1">
                <a:solidFill>
                  <a:srgbClr val="2758E8"/>
                </a:solidFill>
                <a:latin typeface="Arial"/>
                <a:ea typeface="Arial"/>
                <a:cs typeface="Arial"/>
              </a:rPr>
              <a:t>START WITH THE FEED</a:t>
            </a:r>
          </a:p>
        </p:txBody>
      </p:sp>
      <p:sp>
        <p:nvSpPr>
          <p:cNvPr id="11" name="site-lede">
            <a:extLst xmlns:a="http://schemas.openxmlformats.org/drawingml/2006/main">
              <a:ext uri="{FF2B5EF4-FFF2-40B4-BE49-F238E27FC236}">
                <a16:creationId xmlns:a16="http://schemas.microsoft.com/office/drawing/2014/main" id="{DC0A3B8D-B5D6-429D-8A40-543F94E1661A}"/>
              </a:ext>
            </a:extLst>
          </p:cNvPr>
          <p:cNvSpPr>
            <a:spLocks xmlns:a="http://schemas.openxmlformats.org/drawingml/2006/main" noGrp="1"/>
          </p:cNvSpPr>
          <p:nvPr/>
        </p:nvSpPr>
        <p:spPr>
          <a:xfrm xmlns:a="http://schemas.openxmlformats.org/drawingml/2006/main">
            <a:off x="914400" y="3248025"/>
            <a:ext cx="45148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51515"/>
                </a:solidFill>
                <a:latin typeface="Arial"/>
                <a:ea typeface="Arial"/>
                <a:cs typeface="Arial"/>
              </a:defRPr>
            </a:defPPr>
          </a:lstStyle>
          <a:p xmlns:a="http://schemas.openxmlformats.org/drawingml/2006/main">
            <a:pPr algn="l">
              <a:defRPr sz="2925" b="1">
                <a:solidFill>
                  <a:srgbClr val="151515"/>
                </a:solidFill>
                <a:latin typeface="Arial"/>
                <a:ea typeface="Arial"/>
                <a:cs typeface="Arial"/>
              </a:defRPr>
            </a:pPr>
            <a:r>
              <a:rPr sz="2925" b="1">
                <a:solidFill>
                  <a:srgbClr val="151515"/>
                </a:solidFill>
                <a:latin typeface="Arial"/>
                <a:ea typeface="Arial"/>
                <a:cs typeface="Arial"/>
              </a:rPr>
              <a:t>A story is more</a:t>
            </a:r>
          </a:p>
          <a:p xmlns:a="http://schemas.openxmlformats.org/drawingml/2006/main">
            <a:pPr algn="l">
              <a:defRPr sz="2925" b="1">
                <a:solidFill>
                  <a:srgbClr val="151515"/>
                </a:solidFill>
                <a:latin typeface="Arial"/>
                <a:ea typeface="Arial"/>
                <a:cs typeface="Arial"/>
              </a:defRPr>
            </a:pPr>
            <a:r>
              <a:rPr sz="2925" b="1">
                <a:solidFill>
                  <a:srgbClr val="151515"/>
                </a:solidFill>
                <a:latin typeface="Arial"/>
                <a:ea typeface="Arial"/>
                <a:cs typeface="Arial"/>
              </a:rPr>
              <a:t>than a headline.</a:t>
            </a:r>
          </a:p>
        </p:txBody>
      </p:sp>
      <p:sp>
        <p:nvSpPr>
          <p:cNvPr id="12" name="site-tagline">
            <a:extLst xmlns:a="http://schemas.openxmlformats.org/drawingml/2006/main">
              <a:ext uri="{FF2B5EF4-FFF2-40B4-BE49-F238E27FC236}">
                <a16:creationId xmlns:a16="http://schemas.microsoft.com/office/drawing/2014/main" id="{F8E97F6D-8F8D-4A52-B3F1-6E2C5CDD1B4B}"/>
              </a:ext>
            </a:extLst>
          </p:cNvPr>
          <p:cNvSpPr>
            <a:spLocks xmlns:a="http://schemas.openxmlformats.org/drawingml/2006/main" noGrp="1"/>
          </p:cNvSpPr>
          <p:nvPr/>
        </p:nvSpPr>
        <p:spPr>
          <a:xfrm xmlns:a="http://schemas.openxmlformats.org/drawingml/2006/main">
            <a:off x="914400" y="4762500"/>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151515"/>
                </a:solidFill>
                <a:latin typeface="Arial"/>
                <a:ea typeface="Arial"/>
                <a:cs typeface="Arial"/>
              </a:defRPr>
            </a:defPPr>
          </a:lstStyle>
          <a:p xmlns:a="http://schemas.openxmlformats.org/drawingml/2006/main">
            <a:pPr algn="l">
              <a:defRPr sz="1425" b="0">
                <a:solidFill>
                  <a:srgbClr val="151515"/>
                </a:solidFill>
                <a:latin typeface="Arial"/>
                <a:ea typeface="Arial"/>
                <a:cs typeface="Arial"/>
              </a:defRPr>
            </a:pPr>
            <a:r>
              <a:rPr sz="1425" b="0">
                <a:solidFill>
                  <a:srgbClr val="151515"/>
                </a:solidFill>
                <a:latin typeface="Arial"/>
                <a:ea typeface="Arial"/>
                <a:cs typeface="Arial"/>
              </a:rPr>
              <a:t>Open it. Compare sources. Follow the claim.</a:t>
            </a:r>
          </a:p>
        </p:txBody>
      </p:sp>
      <p:sp>
        <p:nvSpPr>
          <p:cNvPr id="13" name="site-actions-kicker">
            <a:extLst xmlns:a="http://schemas.openxmlformats.org/drawingml/2006/main">
              <a:ext uri="{FF2B5EF4-FFF2-40B4-BE49-F238E27FC236}">
                <a16:creationId xmlns:a16="http://schemas.microsoft.com/office/drawing/2014/main" id="{CAB621B5-70F2-450A-B49E-7CB553E73448}"/>
              </a:ext>
            </a:extLst>
          </p:cNvPr>
          <p:cNvSpPr>
            <a:spLocks xmlns:a="http://schemas.openxmlformats.org/drawingml/2006/main" noGrp="1"/>
          </p:cNvSpPr>
          <p:nvPr/>
        </p:nvSpPr>
        <p:spPr>
          <a:xfrm xmlns:a="http://schemas.openxmlformats.org/drawingml/2006/main">
            <a:off x="6438900" y="260032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5B55"/>
                </a:solidFill>
                <a:latin typeface="Arial"/>
                <a:ea typeface="Arial"/>
                <a:cs typeface="Arial"/>
              </a:defRPr>
            </a:defPPr>
          </a:lstStyle>
          <a:p xmlns:a="http://schemas.openxmlformats.org/drawingml/2006/main">
            <a:pPr algn="l">
              <a:defRPr sz="1275" b="1">
                <a:solidFill>
                  <a:srgbClr val="5B5B55"/>
                </a:solidFill>
                <a:latin typeface="Arial"/>
                <a:ea typeface="Arial"/>
                <a:cs typeface="Arial"/>
              </a:defRPr>
            </a:pPr>
            <a:r>
              <a:rPr sz="1275" b="1">
                <a:solidFill>
                  <a:srgbClr val="5B5B55"/>
                </a:solidFill>
                <a:latin typeface="Arial"/>
                <a:ea typeface="Arial"/>
                <a:cs typeface="Arial"/>
              </a:rPr>
              <a:t>A READER CAN</a:t>
            </a:r>
          </a:p>
        </p:txBody>
      </p:sp>
      <p:sp>
        <p:nvSpPr>
          <p:cNvPr id="14" name="">
            <a:extLst xmlns:a="http://schemas.openxmlformats.org/drawingml/2006/main">
              <a:ext uri="{FF2B5EF4-FFF2-40B4-BE49-F238E27FC236}">
                <a16:creationId xmlns:a16="http://schemas.microsoft.com/office/drawing/2014/main" id="{1F915461-A277-4BFD-B96D-B9C4FD012FFC}"/>
              </a:ext>
            </a:extLst>
          </p:cNvPr>
          <p:cNvSpPr>
            <a:spLocks xmlns:a="http://schemas.openxmlformats.org/drawingml/2006/main" noGrp="1"/>
          </p:cNvSpPr>
          <p:nvPr/>
        </p:nvSpPr>
        <p:spPr>
          <a:xfrm xmlns:a="http://schemas.openxmlformats.org/drawingml/2006/main">
            <a:off x="6438900" y="3657600"/>
            <a:ext cx="51435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15" name="site-action-num-0">
            <a:extLst xmlns:a="http://schemas.openxmlformats.org/drawingml/2006/main">
              <a:ext uri="{FF2B5EF4-FFF2-40B4-BE49-F238E27FC236}">
                <a16:creationId xmlns:a16="http://schemas.microsoft.com/office/drawing/2014/main" id="{478CDAF9-F827-4B72-A391-E94F129192C7}"/>
              </a:ext>
            </a:extLst>
          </p:cNvPr>
          <p:cNvSpPr>
            <a:spLocks xmlns:a="http://schemas.openxmlformats.org/drawingml/2006/main" noGrp="1"/>
          </p:cNvSpPr>
          <p:nvPr/>
        </p:nvSpPr>
        <p:spPr>
          <a:xfrm xmlns:a="http://schemas.openxmlformats.org/drawingml/2006/main">
            <a:off x="6438900" y="31623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2758E8"/>
                </a:solidFill>
                <a:latin typeface="Arial"/>
                <a:ea typeface="Arial"/>
                <a:cs typeface="Arial"/>
              </a:defRPr>
            </a:defPPr>
          </a:lstStyle>
          <a:p xmlns:a="http://schemas.openxmlformats.org/drawingml/2006/main">
            <a:pPr algn="l">
              <a:defRPr sz="1425" b="1">
                <a:solidFill>
                  <a:srgbClr val="2758E8"/>
                </a:solidFill>
                <a:latin typeface="Arial"/>
                <a:ea typeface="Arial"/>
                <a:cs typeface="Arial"/>
              </a:defRPr>
            </a:pPr>
            <a:r>
              <a:rPr sz="1425" b="1">
                <a:solidFill>
                  <a:srgbClr val="2758E8"/>
                </a:solidFill>
                <a:latin typeface="Arial"/>
                <a:ea typeface="Arial"/>
                <a:cs typeface="Arial"/>
              </a:rPr>
              <a:t>01</a:t>
            </a:r>
          </a:p>
        </p:txBody>
      </p:sp>
      <p:sp>
        <p:nvSpPr>
          <p:cNvPr id="16" name="site-action-0">
            <a:extLst xmlns:a="http://schemas.openxmlformats.org/drawingml/2006/main">
              <a:ext uri="{FF2B5EF4-FFF2-40B4-BE49-F238E27FC236}">
                <a16:creationId xmlns:a16="http://schemas.microsoft.com/office/drawing/2014/main" id="{797D53AB-5BC8-42A0-A73C-D4B43505F1CC}"/>
              </a:ext>
            </a:extLst>
          </p:cNvPr>
          <p:cNvSpPr>
            <a:spLocks xmlns:a="http://schemas.openxmlformats.org/drawingml/2006/main" noGrp="1"/>
          </p:cNvSpPr>
          <p:nvPr/>
        </p:nvSpPr>
        <p:spPr>
          <a:xfrm xmlns:a="http://schemas.openxmlformats.org/drawingml/2006/main">
            <a:off x="7000875" y="3162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51515"/>
                </a:solidFill>
                <a:latin typeface="Arial"/>
                <a:ea typeface="Arial"/>
                <a:cs typeface="Arial"/>
              </a:defRPr>
            </a:defPPr>
          </a:lstStyle>
          <a:p xmlns:a="http://schemas.openxmlformats.org/drawingml/2006/main">
            <a:pPr algn="l">
              <a:defRPr sz="1575" b="1">
                <a:solidFill>
                  <a:srgbClr val="151515"/>
                </a:solidFill>
                <a:latin typeface="Arial"/>
                <a:ea typeface="Arial"/>
                <a:cs typeface="Arial"/>
              </a:defRPr>
            </a:pPr>
            <a:r>
              <a:rPr sz="1575" b="1">
                <a:solidFill>
                  <a:srgbClr val="151515"/>
                </a:solidFill>
                <a:latin typeface="Arial"/>
                <a:ea typeface="Arial"/>
                <a:cs typeface="Arial"/>
              </a:rPr>
              <a:t>Browse by topic and recency</a:t>
            </a:r>
          </a:p>
        </p:txBody>
      </p:sp>
      <p:sp>
        <p:nvSpPr>
          <p:cNvPr id="17" name="">
            <a:extLst xmlns:a="http://schemas.openxmlformats.org/drawingml/2006/main">
              <a:ext uri="{FF2B5EF4-FFF2-40B4-BE49-F238E27FC236}">
                <a16:creationId xmlns:a16="http://schemas.microsoft.com/office/drawing/2014/main" id="{7793B6F2-F991-476D-A3EB-5B72D03A0C83}"/>
              </a:ext>
            </a:extLst>
          </p:cNvPr>
          <p:cNvSpPr>
            <a:spLocks xmlns:a="http://schemas.openxmlformats.org/drawingml/2006/main" noGrp="1"/>
          </p:cNvSpPr>
          <p:nvPr/>
        </p:nvSpPr>
        <p:spPr>
          <a:xfrm xmlns:a="http://schemas.openxmlformats.org/drawingml/2006/main">
            <a:off x="6438900" y="4343400"/>
            <a:ext cx="51435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18" name="site-action-num-1">
            <a:extLst xmlns:a="http://schemas.openxmlformats.org/drawingml/2006/main">
              <a:ext uri="{FF2B5EF4-FFF2-40B4-BE49-F238E27FC236}">
                <a16:creationId xmlns:a16="http://schemas.microsoft.com/office/drawing/2014/main" id="{40AD6A4E-8632-4A7E-8475-84C7F3C43E09}"/>
              </a:ext>
            </a:extLst>
          </p:cNvPr>
          <p:cNvSpPr>
            <a:spLocks xmlns:a="http://schemas.openxmlformats.org/drawingml/2006/main" noGrp="1"/>
          </p:cNvSpPr>
          <p:nvPr/>
        </p:nvSpPr>
        <p:spPr>
          <a:xfrm xmlns:a="http://schemas.openxmlformats.org/drawingml/2006/main">
            <a:off x="6438900" y="38481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2758E8"/>
                </a:solidFill>
                <a:latin typeface="Arial"/>
                <a:ea typeface="Arial"/>
                <a:cs typeface="Arial"/>
              </a:defRPr>
            </a:defPPr>
          </a:lstStyle>
          <a:p xmlns:a="http://schemas.openxmlformats.org/drawingml/2006/main">
            <a:pPr algn="l">
              <a:defRPr sz="1425" b="1">
                <a:solidFill>
                  <a:srgbClr val="2758E8"/>
                </a:solidFill>
                <a:latin typeface="Arial"/>
                <a:ea typeface="Arial"/>
                <a:cs typeface="Arial"/>
              </a:defRPr>
            </a:pPr>
            <a:r>
              <a:rPr sz="1425" b="1">
                <a:solidFill>
                  <a:srgbClr val="2758E8"/>
                </a:solidFill>
                <a:latin typeface="Arial"/>
                <a:ea typeface="Arial"/>
                <a:cs typeface="Arial"/>
              </a:rPr>
              <a:t>02</a:t>
            </a:r>
          </a:p>
        </p:txBody>
      </p:sp>
      <p:sp>
        <p:nvSpPr>
          <p:cNvPr id="19" name="site-action-1">
            <a:extLst xmlns:a="http://schemas.openxmlformats.org/drawingml/2006/main">
              <a:ext uri="{FF2B5EF4-FFF2-40B4-BE49-F238E27FC236}">
                <a16:creationId xmlns:a16="http://schemas.microsoft.com/office/drawing/2014/main" id="{F35F18C0-3C59-4696-80A1-3F2E9D395718}"/>
              </a:ext>
            </a:extLst>
          </p:cNvPr>
          <p:cNvSpPr>
            <a:spLocks xmlns:a="http://schemas.openxmlformats.org/drawingml/2006/main" noGrp="1"/>
          </p:cNvSpPr>
          <p:nvPr/>
        </p:nvSpPr>
        <p:spPr>
          <a:xfrm xmlns:a="http://schemas.openxmlformats.org/drawingml/2006/main">
            <a:off x="7000875" y="38481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51515"/>
                </a:solidFill>
                <a:latin typeface="Arial"/>
                <a:ea typeface="Arial"/>
                <a:cs typeface="Arial"/>
              </a:defRPr>
            </a:defPPr>
          </a:lstStyle>
          <a:p xmlns:a="http://schemas.openxmlformats.org/drawingml/2006/main">
            <a:pPr algn="l">
              <a:defRPr sz="1575" b="1">
                <a:solidFill>
                  <a:srgbClr val="151515"/>
                </a:solidFill>
                <a:latin typeface="Arial"/>
                <a:ea typeface="Arial"/>
                <a:cs typeface="Arial"/>
              </a:defRPr>
            </a:pPr>
            <a:r>
              <a:rPr sz="1575" b="1">
                <a:solidFill>
                  <a:srgbClr val="151515"/>
                </a:solidFill>
                <a:latin typeface="Arial"/>
                <a:ea typeface="Arial"/>
                <a:cs typeface="Arial"/>
              </a:rPr>
              <a:t>Open a story and its source notes</a:t>
            </a:r>
          </a:p>
        </p:txBody>
      </p:sp>
      <p:sp>
        <p:nvSpPr>
          <p:cNvPr id="20" name="">
            <a:extLst xmlns:a="http://schemas.openxmlformats.org/drawingml/2006/main">
              <a:ext uri="{FF2B5EF4-FFF2-40B4-BE49-F238E27FC236}">
                <a16:creationId xmlns:a16="http://schemas.microsoft.com/office/drawing/2014/main" id="{24FA18C4-4F32-4BA4-B6CE-31E6A6944858}"/>
              </a:ext>
            </a:extLst>
          </p:cNvPr>
          <p:cNvSpPr>
            <a:spLocks xmlns:a="http://schemas.openxmlformats.org/drawingml/2006/main" noGrp="1"/>
          </p:cNvSpPr>
          <p:nvPr/>
        </p:nvSpPr>
        <p:spPr>
          <a:xfrm xmlns:a="http://schemas.openxmlformats.org/drawingml/2006/main">
            <a:off x="6438900" y="5029200"/>
            <a:ext cx="51435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21" name="site-action-num-2">
            <a:extLst xmlns:a="http://schemas.openxmlformats.org/drawingml/2006/main">
              <a:ext uri="{FF2B5EF4-FFF2-40B4-BE49-F238E27FC236}">
                <a16:creationId xmlns:a16="http://schemas.microsoft.com/office/drawing/2014/main" id="{29370A40-AD63-4E1C-BE7E-B983623ECE2B}"/>
              </a:ext>
            </a:extLst>
          </p:cNvPr>
          <p:cNvSpPr>
            <a:spLocks xmlns:a="http://schemas.openxmlformats.org/drawingml/2006/main" noGrp="1"/>
          </p:cNvSpPr>
          <p:nvPr/>
        </p:nvSpPr>
        <p:spPr>
          <a:xfrm xmlns:a="http://schemas.openxmlformats.org/drawingml/2006/main">
            <a:off x="6438900" y="45339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2758E8"/>
                </a:solidFill>
                <a:latin typeface="Arial"/>
                <a:ea typeface="Arial"/>
                <a:cs typeface="Arial"/>
              </a:defRPr>
            </a:defPPr>
          </a:lstStyle>
          <a:p xmlns:a="http://schemas.openxmlformats.org/drawingml/2006/main">
            <a:pPr algn="l">
              <a:defRPr sz="1425" b="1">
                <a:solidFill>
                  <a:srgbClr val="2758E8"/>
                </a:solidFill>
                <a:latin typeface="Arial"/>
                <a:ea typeface="Arial"/>
                <a:cs typeface="Arial"/>
              </a:defRPr>
            </a:pPr>
            <a:r>
              <a:rPr sz="1425" b="1">
                <a:solidFill>
                  <a:srgbClr val="2758E8"/>
                </a:solidFill>
                <a:latin typeface="Arial"/>
                <a:ea typeface="Arial"/>
                <a:cs typeface="Arial"/>
              </a:rPr>
              <a:t>03</a:t>
            </a:r>
          </a:p>
        </p:txBody>
      </p:sp>
      <p:sp>
        <p:nvSpPr>
          <p:cNvPr id="22" name="site-action-2">
            <a:extLst xmlns:a="http://schemas.openxmlformats.org/drawingml/2006/main">
              <a:ext uri="{FF2B5EF4-FFF2-40B4-BE49-F238E27FC236}">
                <a16:creationId xmlns:a16="http://schemas.microsoft.com/office/drawing/2014/main" id="{46518D4A-A06B-4802-9A84-42973618825B}"/>
              </a:ext>
            </a:extLst>
          </p:cNvPr>
          <p:cNvSpPr>
            <a:spLocks xmlns:a="http://schemas.openxmlformats.org/drawingml/2006/main" noGrp="1"/>
          </p:cNvSpPr>
          <p:nvPr/>
        </p:nvSpPr>
        <p:spPr>
          <a:xfrm xmlns:a="http://schemas.openxmlformats.org/drawingml/2006/main">
            <a:off x="7000875" y="45339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51515"/>
                </a:solidFill>
                <a:latin typeface="Arial"/>
                <a:ea typeface="Arial"/>
                <a:cs typeface="Arial"/>
              </a:defRPr>
            </a:defPPr>
          </a:lstStyle>
          <a:p xmlns:a="http://schemas.openxmlformats.org/drawingml/2006/main">
            <a:pPr algn="l">
              <a:defRPr sz="1575" b="1">
                <a:solidFill>
                  <a:srgbClr val="151515"/>
                </a:solidFill>
                <a:latin typeface="Arial"/>
                <a:ea typeface="Arial"/>
                <a:cs typeface="Arial"/>
              </a:defRPr>
            </a:pPr>
            <a:r>
              <a:rPr sz="1575" b="1">
                <a:solidFill>
                  <a:srgbClr val="151515"/>
                </a:solidFill>
                <a:latin typeface="Arial"/>
                <a:ea typeface="Arial"/>
                <a:cs typeface="Arial"/>
              </a:rPr>
              <a:t>Listen, share, and explore editions</a:t>
            </a:r>
          </a:p>
        </p:txBody>
      </p:sp>
      <p:sp>
        <p:nvSpPr>
          <p:cNvPr id="23" name="demo-disclosure">
            <a:extLst xmlns:a="http://schemas.openxmlformats.org/drawingml/2006/main">
              <a:ext uri="{FF2B5EF4-FFF2-40B4-BE49-F238E27FC236}">
                <a16:creationId xmlns:a16="http://schemas.microsoft.com/office/drawing/2014/main" id="{9F50786B-6C9C-4D0A-AEDE-00B91142C7C3}"/>
              </a:ext>
            </a:extLst>
          </p:cNvPr>
          <p:cNvSpPr>
            <a:spLocks xmlns:a="http://schemas.openxmlformats.org/drawingml/2006/main" noGrp="1"/>
          </p:cNvSpPr>
          <p:nvPr/>
        </p:nvSpPr>
        <p:spPr>
          <a:xfrm xmlns:a="http://schemas.openxmlformats.org/drawingml/2006/main">
            <a:off x="6438900" y="5457825"/>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5B5B55"/>
                </a:solidFill>
                <a:latin typeface="Arial"/>
                <a:ea typeface="Arial"/>
                <a:cs typeface="Arial"/>
              </a:defRPr>
            </a:defPPr>
          </a:lstStyle>
          <a:p xmlns:a="http://schemas.openxmlformats.org/drawingml/2006/main">
            <a:pPr algn="l">
              <a:defRPr sz="1200" b="1">
                <a:solidFill>
                  <a:srgbClr val="5B5B55"/>
                </a:solidFill>
                <a:latin typeface="Arial"/>
                <a:ea typeface="Arial"/>
                <a:cs typeface="Arial"/>
              </a:defRPr>
            </a:pPr>
            <a:r>
              <a:rPr sz="1200" b="1">
                <a:solidFill>
                  <a:srgbClr val="5B5B55"/>
                </a:solidFill>
                <a:latin typeface="Arial"/>
                <a:ea typeface="Arial"/>
                <a:cs typeface="Arial"/>
              </a:rPr>
              <a:t>DEMO DISCLOSURE: current sample stories are fictional data.</a:t>
            </a:r>
          </a:p>
        </p:txBody>
      </p:sp>
    </p:spTree>
    <p:extLst>
      <p:ext uri="{BB962C8B-B14F-4D97-AF65-F5344CB8AC3E}">
        <p14:creationId xmlns:p14="http://schemas.microsoft.com/office/powerpoint/2010/main" val="447200123"/>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8" name="section-kicker">
            <a:extLst xmlns:a="http://schemas.openxmlformats.org/drawingml/2006/main">
              <a:ext uri="{FF2B5EF4-FFF2-40B4-BE49-F238E27FC236}">
                <a16:creationId xmlns:a16="http://schemas.microsoft.com/office/drawing/2014/main" id="{9EC08C3C-F316-4E36-8E78-C3C66CD0F196}"/>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EVIDENCE PLACEHOLDER</a:t>
            </a:r>
          </a:p>
        </p:txBody>
      </p:sp>
      <p:sp>
        <p:nvSpPr>
          <p:cNvPr id="2" name="slide-title">
            <a:extLst xmlns:a="http://schemas.openxmlformats.org/drawingml/2006/main">
              <a:ext uri="{FF2B5EF4-FFF2-40B4-BE49-F238E27FC236}">
                <a16:creationId xmlns:a16="http://schemas.microsoft.com/office/drawing/2014/main" id="{D9C399B3-81C6-477E-8C36-ED7A9C833AF3}"/>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Screenshots</a:t>
            </a:r>
          </a:p>
        </p:txBody>
      </p:sp>
      <p:sp>
        <p:nvSpPr>
          <p:cNvPr id="3" name="">
            <a:extLst xmlns:a="http://schemas.openxmlformats.org/drawingml/2006/main">
              <a:ext uri="{FF2B5EF4-FFF2-40B4-BE49-F238E27FC236}">
                <a16:creationId xmlns:a16="http://schemas.microsoft.com/office/drawing/2014/main" id="{5EA9C583-7989-4AA0-9440-EE851C510A3D}"/>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F5A19FB5-767F-4307-AE38-131B0B51CC0B}"/>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734F61CE-8F77-4111-B4DF-E0C169051F6F}"/>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07 / 09</a:t>
            </a:r>
          </a:p>
        </p:txBody>
      </p:sp>
      <p:sp>
        <p:nvSpPr>
          <p:cNvPr id="6" name="instagram-screenshot-placeholder">
            <a:extLst xmlns:a="http://schemas.openxmlformats.org/drawingml/2006/main">
              <a:ext uri="{FF2B5EF4-FFF2-40B4-BE49-F238E27FC236}">
                <a16:creationId xmlns:a16="http://schemas.microsoft.com/office/drawing/2014/main" id="{567AD43B-9D6D-45DE-86DF-4C19476946E9}"/>
              </a:ext>
            </a:extLst>
          </p:cNvPr>
          <p:cNvSpPr>
            <a:spLocks xmlns:a="http://schemas.openxmlformats.org/drawingml/2006/main" noGrp="1"/>
          </p:cNvSpPr>
          <p:nvPr/>
        </p:nvSpPr>
        <p:spPr>
          <a:xfrm xmlns:a="http://schemas.openxmlformats.org/drawingml/2006/main">
            <a:off x="609600" y="1676400"/>
            <a:ext cx="5219700" cy="3714750"/>
          </a:xfrm>
          <a:prstGeom xmlns:a="http://schemas.openxmlformats.org/drawingml/2006/main" prst="rect">
            <a:avLst/>
          </a:prstGeom>
          <a:solidFill xmlns:a="http://schemas.openxmlformats.org/drawingml/2006/main">
            <a:srgbClr val="F4F0E8"/>
          </a:solidFill>
          <a:ln xmlns:a="http://schemas.openxmlformats.org/drawingml/2006/main" w="38100">
            <a:solidFill>
              <a:srgbClr val="151515"/>
            </a:solidFill>
            <a:prstDash val="solid"/>
          </a:ln>
        </p:spPr>
      </p:sp>
      <p:sp>
        <p:nvSpPr>
          <p:cNvPr id="7" name="website-screenshot-placeholder">
            <a:extLst xmlns:a="http://schemas.openxmlformats.org/drawingml/2006/main">
              <a:ext uri="{FF2B5EF4-FFF2-40B4-BE49-F238E27FC236}">
                <a16:creationId xmlns:a16="http://schemas.microsoft.com/office/drawing/2014/main" id="{832D306E-03D9-4494-9163-2DC95452CC8A}"/>
              </a:ext>
            </a:extLst>
          </p:cNvPr>
          <p:cNvSpPr>
            <a:spLocks xmlns:a="http://schemas.openxmlformats.org/drawingml/2006/main" noGrp="1"/>
          </p:cNvSpPr>
          <p:nvPr/>
        </p:nvSpPr>
        <p:spPr>
          <a:xfrm xmlns:a="http://schemas.openxmlformats.org/drawingml/2006/main">
            <a:off x="6362700" y="1676400"/>
            <a:ext cx="5219700" cy="3714750"/>
          </a:xfrm>
          <a:prstGeom xmlns:a="http://schemas.openxmlformats.org/drawingml/2006/main" prst="rect">
            <a:avLst/>
          </a:prstGeom>
          <a:solidFill xmlns:a="http://schemas.openxmlformats.org/drawingml/2006/main">
            <a:srgbClr val="F4F0E8"/>
          </a:solidFill>
          <a:ln xmlns:a="http://schemas.openxmlformats.org/drawingml/2006/main" w="38100">
            <a:solidFill>
              <a:srgbClr val="151515"/>
            </a:solidFill>
            <a:prstDash val="solid"/>
          </a:ln>
        </p:spPr>
      </p:sp>
      <p:sp>
        <p:nvSpPr>
          <p:cNvPr id="8" name="">
            <a:extLst xmlns:a="http://schemas.openxmlformats.org/drawingml/2006/main">
              <a:ext uri="{FF2B5EF4-FFF2-40B4-BE49-F238E27FC236}">
                <a16:creationId xmlns:a16="http://schemas.microsoft.com/office/drawing/2014/main" id="{025F78C6-4540-46AF-99B5-6E9CCB78B3BD}"/>
              </a:ext>
            </a:extLst>
          </p:cNvPr>
          <p:cNvSpPr>
            <a:spLocks xmlns:a="http://schemas.openxmlformats.org/drawingml/2006/main" noGrp="1"/>
          </p:cNvSpPr>
          <p:nvPr/>
        </p:nvSpPr>
        <p:spPr>
          <a:xfrm xmlns:a="http://schemas.openxmlformats.org/drawingml/2006/main">
            <a:off x="838200" y="1905000"/>
            <a:ext cx="533400" cy="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9" name="">
            <a:extLst xmlns:a="http://schemas.openxmlformats.org/drawingml/2006/main">
              <a:ext uri="{FF2B5EF4-FFF2-40B4-BE49-F238E27FC236}">
                <a16:creationId xmlns:a16="http://schemas.microsoft.com/office/drawing/2014/main" id="{1F91FFB7-F770-48BA-BA4F-5804AA495E0B}"/>
              </a:ext>
            </a:extLst>
          </p:cNvPr>
          <p:cNvSpPr>
            <a:spLocks xmlns:a="http://schemas.openxmlformats.org/drawingml/2006/main" noGrp="1"/>
          </p:cNvSpPr>
          <p:nvPr/>
        </p:nvSpPr>
        <p:spPr>
          <a:xfrm xmlns:a="http://schemas.openxmlformats.org/drawingml/2006/main">
            <a:off x="838200" y="1905000"/>
            <a:ext cx="0" cy="53340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10" name="">
            <a:extLst xmlns:a="http://schemas.openxmlformats.org/drawingml/2006/main">
              <a:ext uri="{FF2B5EF4-FFF2-40B4-BE49-F238E27FC236}">
                <a16:creationId xmlns:a16="http://schemas.microsoft.com/office/drawing/2014/main" id="{0E29F1C1-07FA-482F-B622-88163FC6673F}"/>
              </a:ext>
            </a:extLst>
          </p:cNvPr>
          <p:cNvSpPr>
            <a:spLocks xmlns:a="http://schemas.openxmlformats.org/drawingml/2006/main" noGrp="1"/>
          </p:cNvSpPr>
          <p:nvPr/>
        </p:nvSpPr>
        <p:spPr>
          <a:xfrm xmlns:a="http://schemas.openxmlformats.org/drawingml/2006/main">
            <a:off x="5067300" y="5162550"/>
            <a:ext cx="533400" cy="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11" name="">
            <a:extLst xmlns:a="http://schemas.openxmlformats.org/drawingml/2006/main">
              <a:ext uri="{FF2B5EF4-FFF2-40B4-BE49-F238E27FC236}">
                <a16:creationId xmlns:a16="http://schemas.microsoft.com/office/drawing/2014/main" id="{38FE74CE-0875-403C-974E-AA3930E31359}"/>
              </a:ext>
            </a:extLst>
          </p:cNvPr>
          <p:cNvSpPr>
            <a:spLocks xmlns:a="http://schemas.openxmlformats.org/drawingml/2006/main" noGrp="1"/>
          </p:cNvSpPr>
          <p:nvPr/>
        </p:nvSpPr>
        <p:spPr>
          <a:xfrm xmlns:a="http://schemas.openxmlformats.org/drawingml/2006/main">
            <a:off x="5600700" y="4629150"/>
            <a:ext cx="0" cy="53340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12" name="">
            <a:extLst xmlns:a="http://schemas.openxmlformats.org/drawingml/2006/main">
              <a:ext uri="{FF2B5EF4-FFF2-40B4-BE49-F238E27FC236}">
                <a16:creationId xmlns:a16="http://schemas.microsoft.com/office/drawing/2014/main" id="{64F3913D-164E-4FFE-A68C-4A033A40D44C}"/>
              </a:ext>
            </a:extLst>
          </p:cNvPr>
          <p:cNvSpPr>
            <a:spLocks xmlns:a="http://schemas.openxmlformats.org/drawingml/2006/main" noGrp="1"/>
          </p:cNvSpPr>
          <p:nvPr/>
        </p:nvSpPr>
        <p:spPr>
          <a:xfrm xmlns:a="http://schemas.openxmlformats.org/drawingml/2006/main">
            <a:off x="6591300" y="1905000"/>
            <a:ext cx="533400" cy="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13" name="">
            <a:extLst xmlns:a="http://schemas.openxmlformats.org/drawingml/2006/main">
              <a:ext uri="{FF2B5EF4-FFF2-40B4-BE49-F238E27FC236}">
                <a16:creationId xmlns:a16="http://schemas.microsoft.com/office/drawing/2014/main" id="{EA6AC3B2-1F3A-409C-9FFA-8B857CC00388}"/>
              </a:ext>
            </a:extLst>
          </p:cNvPr>
          <p:cNvSpPr>
            <a:spLocks xmlns:a="http://schemas.openxmlformats.org/drawingml/2006/main" noGrp="1"/>
          </p:cNvSpPr>
          <p:nvPr/>
        </p:nvSpPr>
        <p:spPr>
          <a:xfrm xmlns:a="http://schemas.openxmlformats.org/drawingml/2006/main">
            <a:off x="6591300" y="1905000"/>
            <a:ext cx="0" cy="53340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14" name="">
            <a:extLst xmlns:a="http://schemas.openxmlformats.org/drawingml/2006/main">
              <a:ext uri="{FF2B5EF4-FFF2-40B4-BE49-F238E27FC236}">
                <a16:creationId xmlns:a16="http://schemas.microsoft.com/office/drawing/2014/main" id="{E0B5C75A-D3C9-4640-90EA-AD957F601B6A}"/>
              </a:ext>
            </a:extLst>
          </p:cNvPr>
          <p:cNvSpPr>
            <a:spLocks xmlns:a="http://schemas.openxmlformats.org/drawingml/2006/main" noGrp="1"/>
          </p:cNvSpPr>
          <p:nvPr/>
        </p:nvSpPr>
        <p:spPr>
          <a:xfrm xmlns:a="http://schemas.openxmlformats.org/drawingml/2006/main">
            <a:off x="10858500" y="5162550"/>
            <a:ext cx="533400" cy="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15" name="">
            <a:extLst xmlns:a="http://schemas.openxmlformats.org/drawingml/2006/main">
              <a:ext uri="{FF2B5EF4-FFF2-40B4-BE49-F238E27FC236}">
                <a16:creationId xmlns:a16="http://schemas.microsoft.com/office/drawing/2014/main" id="{E8502BD2-3876-4ABA-AD86-5EBA4D8B66AD}"/>
              </a:ext>
            </a:extLst>
          </p:cNvPr>
          <p:cNvSpPr>
            <a:spLocks xmlns:a="http://schemas.openxmlformats.org/drawingml/2006/main" noGrp="1"/>
          </p:cNvSpPr>
          <p:nvPr/>
        </p:nvSpPr>
        <p:spPr>
          <a:xfrm xmlns:a="http://schemas.openxmlformats.org/drawingml/2006/main">
            <a:off x="11391900" y="4629150"/>
            <a:ext cx="0" cy="533400"/>
          </a:xfrm>
          <a:prstGeom xmlns:a="http://schemas.openxmlformats.org/drawingml/2006/main" prst="line">
            <a:avLst/>
          </a:prstGeom>
          <a:noFill xmlns:a="http://schemas.openxmlformats.org/drawingml/2006/main"/>
          <a:ln xmlns:a="http://schemas.openxmlformats.org/drawingml/2006/main" w="38100">
            <a:solidFill>
              <a:srgbClr val="2758E8"/>
            </a:solidFill>
            <a:prstDash val="solid"/>
          </a:ln>
        </p:spPr>
      </p:sp>
      <p:sp>
        <p:nvSpPr>
          <p:cNvPr id="16" name="instagram-label">
            <a:extLst xmlns:a="http://schemas.openxmlformats.org/drawingml/2006/main">
              <a:ext uri="{FF2B5EF4-FFF2-40B4-BE49-F238E27FC236}">
                <a16:creationId xmlns:a16="http://schemas.microsoft.com/office/drawing/2014/main" id="{7B197B0A-07CC-4677-A373-3CC5862BACB4}"/>
              </a:ext>
            </a:extLst>
          </p:cNvPr>
          <p:cNvSpPr>
            <a:spLocks xmlns:a="http://schemas.openxmlformats.org/drawingml/2006/main" noGrp="1"/>
          </p:cNvSpPr>
          <p:nvPr/>
        </p:nvSpPr>
        <p:spPr>
          <a:xfrm xmlns:a="http://schemas.openxmlformats.org/drawingml/2006/main">
            <a:off x="609600" y="560070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51515"/>
                </a:solidFill>
                <a:latin typeface="Arial"/>
                <a:ea typeface="Arial"/>
                <a:cs typeface="Arial"/>
              </a:defRPr>
            </a:defPPr>
          </a:lstStyle>
          <a:p xmlns:a="http://schemas.openxmlformats.org/drawingml/2006/main">
            <a:pPr algn="ctr">
              <a:defRPr sz="1350" b="1">
                <a:solidFill>
                  <a:srgbClr val="151515"/>
                </a:solidFill>
                <a:latin typeface="Arial"/>
                <a:ea typeface="Arial"/>
                <a:cs typeface="Arial"/>
              </a:defRPr>
            </a:pPr>
            <a:r>
              <a:rPr sz="1350" b="1">
                <a:solidFill>
                  <a:srgbClr val="151515"/>
                </a:solidFill>
                <a:latin typeface="Arial"/>
                <a:ea typeface="Arial"/>
                <a:cs typeface="Arial"/>
              </a:rPr>
              <a:t>INSTAGRAM STATS</a:t>
            </a:r>
          </a:p>
        </p:txBody>
      </p:sp>
      <p:sp>
        <p:nvSpPr>
          <p:cNvPr id="17" name="website-label">
            <a:extLst xmlns:a="http://schemas.openxmlformats.org/drawingml/2006/main">
              <a:ext uri="{FF2B5EF4-FFF2-40B4-BE49-F238E27FC236}">
                <a16:creationId xmlns:a16="http://schemas.microsoft.com/office/drawing/2014/main" id="{52E95681-D767-4BC1-9F82-55FC34E27209}"/>
              </a:ext>
            </a:extLst>
          </p:cNvPr>
          <p:cNvSpPr>
            <a:spLocks xmlns:a="http://schemas.openxmlformats.org/drawingml/2006/main" noGrp="1"/>
          </p:cNvSpPr>
          <p:nvPr/>
        </p:nvSpPr>
        <p:spPr>
          <a:xfrm xmlns:a="http://schemas.openxmlformats.org/drawingml/2006/main">
            <a:off x="6362700" y="560070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151515"/>
                </a:solidFill>
                <a:latin typeface="Arial"/>
                <a:ea typeface="Arial"/>
                <a:cs typeface="Arial"/>
              </a:defRPr>
            </a:defPPr>
          </a:lstStyle>
          <a:p xmlns:a="http://schemas.openxmlformats.org/drawingml/2006/main">
            <a:pPr algn="ctr">
              <a:defRPr sz="1350" b="1">
                <a:solidFill>
                  <a:srgbClr val="151515"/>
                </a:solidFill>
                <a:latin typeface="Arial"/>
                <a:ea typeface="Arial"/>
                <a:cs typeface="Arial"/>
              </a:defRPr>
            </a:pPr>
            <a:r>
              <a:rPr sz="1350" b="1">
                <a:solidFill>
                  <a:srgbClr val="151515"/>
                </a:solidFill>
                <a:latin typeface="Arial"/>
                <a:ea typeface="Arial"/>
                <a:cs typeface="Arial"/>
              </a:rPr>
              <a:t>WEBSITE / APP</a:t>
            </a:r>
          </a:p>
        </p:txBody>
      </p:sp>
    </p:spTree>
    <p:extLst>
      <p:ext uri="{BB962C8B-B14F-4D97-AF65-F5344CB8AC3E}">
        <p14:creationId xmlns:p14="http://schemas.microsoft.com/office/powerpoint/2010/main" val="878647539"/>
      </p:ext>
    </p:extLst>
  </p:cSld>
</p:sld>
</file>

<file path=ppt/slides/slide8.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20" name="section-kicker">
            <a:extLst xmlns:a="http://schemas.openxmlformats.org/drawingml/2006/main">
              <a:ext uri="{FF2B5EF4-FFF2-40B4-BE49-F238E27FC236}">
                <a16:creationId xmlns:a16="http://schemas.microsoft.com/office/drawing/2014/main" id="{9778AACF-71F2-420A-BB50-140D938FD117}"/>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AUTOMATION + WEBSITE</a:t>
            </a:r>
          </a:p>
        </p:txBody>
      </p:sp>
      <p:sp>
        <p:nvSpPr>
          <p:cNvPr id="2" name="slide-title">
            <a:extLst xmlns:a="http://schemas.openxmlformats.org/drawingml/2006/main">
              <a:ext uri="{FF2B5EF4-FFF2-40B4-BE49-F238E27FC236}">
                <a16:creationId xmlns:a16="http://schemas.microsoft.com/office/drawing/2014/main" id="{56B207D8-8005-4E2C-BB22-666F2D51999E}"/>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Close the loop with real usage</a:t>
            </a:r>
          </a:p>
        </p:txBody>
      </p:sp>
      <p:sp>
        <p:nvSpPr>
          <p:cNvPr id="3" name="">
            <a:extLst xmlns:a="http://schemas.openxmlformats.org/drawingml/2006/main">
              <a:ext uri="{FF2B5EF4-FFF2-40B4-BE49-F238E27FC236}">
                <a16:creationId xmlns:a16="http://schemas.microsoft.com/office/drawing/2014/main" id="{82692C98-39AB-469F-B26E-2FDDC325F23F}"/>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8E84651E-1F6D-4980-BD6F-D222F87596CA}"/>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D394B7BA-5AFF-456C-B290-0B31E0398F20}"/>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08 / 09</a:t>
            </a:r>
          </a:p>
        </p:txBody>
      </p:sp>
      <p:sp>
        <p:nvSpPr>
          <p:cNvPr id="6" name="next-row-0">
            <a:extLst xmlns:a="http://schemas.openxmlformats.org/drawingml/2006/main">
              <a:ext uri="{FF2B5EF4-FFF2-40B4-BE49-F238E27FC236}">
                <a16:creationId xmlns:a16="http://schemas.microsoft.com/office/drawing/2014/main" id="{5BA1F814-0B83-41AD-BC62-01BABCFBC960}"/>
              </a:ext>
            </a:extLst>
          </p:cNvPr>
          <p:cNvSpPr>
            <a:spLocks xmlns:a="http://schemas.openxmlformats.org/drawingml/2006/main" noGrp="1"/>
          </p:cNvSpPr>
          <p:nvPr/>
        </p:nvSpPr>
        <p:spPr>
          <a:xfrm xmlns:a="http://schemas.openxmlformats.org/drawingml/2006/main">
            <a:off x="609600" y="1771650"/>
            <a:ext cx="10972800" cy="8382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7" name="next-num-0">
            <a:extLst xmlns:a="http://schemas.openxmlformats.org/drawingml/2006/main">
              <a:ext uri="{FF2B5EF4-FFF2-40B4-BE49-F238E27FC236}">
                <a16:creationId xmlns:a16="http://schemas.microsoft.com/office/drawing/2014/main" id="{C94DE834-16E3-4CD8-8438-819F551AB4D2}"/>
              </a:ext>
            </a:extLst>
          </p:cNvPr>
          <p:cNvSpPr>
            <a:spLocks xmlns:a="http://schemas.openxmlformats.org/drawingml/2006/main" noGrp="1"/>
          </p:cNvSpPr>
          <p:nvPr/>
        </p:nvSpPr>
        <p:spPr>
          <a:xfrm xmlns:a="http://schemas.openxmlformats.org/drawingml/2006/main">
            <a:off x="800100" y="1933575"/>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2758E8"/>
                </a:solidFill>
                <a:latin typeface="Arial"/>
                <a:ea typeface="Arial"/>
                <a:cs typeface="Arial"/>
              </a:defRPr>
            </a:defPPr>
          </a:lstStyle>
          <a:p xmlns:a="http://schemas.openxmlformats.org/drawingml/2006/main">
            <a:pPr algn="l">
              <a:defRPr sz="1875" b="1">
                <a:solidFill>
                  <a:srgbClr val="2758E8"/>
                </a:solidFill>
                <a:latin typeface="Arial"/>
                <a:ea typeface="Arial"/>
                <a:cs typeface="Arial"/>
              </a:defRPr>
            </a:pPr>
            <a:r>
              <a:rPr sz="1875" b="1">
                <a:solidFill>
                  <a:srgbClr val="2758E8"/>
                </a:solidFill>
                <a:latin typeface="Arial"/>
                <a:ea typeface="Arial"/>
                <a:cs typeface="Arial"/>
              </a:rPr>
              <a:t>01</a:t>
            </a:r>
          </a:p>
        </p:txBody>
      </p:sp>
      <p:sp>
        <p:nvSpPr>
          <p:cNvPr id="8" name="next-label-0">
            <a:extLst xmlns:a="http://schemas.openxmlformats.org/drawingml/2006/main">
              <a:ext uri="{FF2B5EF4-FFF2-40B4-BE49-F238E27FC236}">
                <a16:creationId xmlns:a16="http://schemas.microsoft.com/office/drawing/2014/main" id="{A0DC126C-1A68-41C1-AB6B-A3F607495A8A}"/>
              </a:ext>
            </a:extLst>
          </p:cNvPr>
          <p:cNvSpPr>
            <a:spLocks xmlns:a="http://schemas.openxmlformats.org/drawingml/2006/main" noGrp="1"/>
          </p:cNvSpPr>
          <p:nvPr/>
        </p:nvSpPr>
        <p:spPr>
          <a:xfrm xmlns:a="http://schemas.openxmlformats.org/drawingml/2006/main">
            <a:off x="1600200" y="1885950"/>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5B5B55"/>
                </a:solidFill>
                <a:latin typeface="Arial"/>
                <a:ea typeface="Arial"/>
                <a:cs typeface="Arial"/>
              </a:defRPr>
            </a:defPPr>
          </a:lstStyle>
          <a:p xmlns:a="http://schemas.openxmlformats.org/drawingml/2006/main">
            <a:pPr algn="l">
              <a:defRPr sz="1200" b="1">
                <a:solidFill>
                  <a:srgbClr val="5B5B55"/>
                </a:solidFill>
                <a:latin typeface="Arial"/>
                <a:ea typeface="Arial"/>
                <a:cs typeface="Arial"/>
              </a:defRPr>
            </a:pPr>
            <a:r>
              <a:rPr sz="1200" b="1">
                <a:solidFill>
                  <a:srgbClr val="5B5B55"/>
                </a:solidFill>
                <a:latin typeface="Arial"/>
                <a:ea typeface="Arial"/>
                <a:cs typeface="Arial"/>
              </a:rPr>
              <a:t>CONNECT</a:t>
            </a:r>
          </a:p>
        </p:txBody>
      </p:sp>
      <p:sp>
        <p:nvSpPr>
          <p:cNvPr id="9" name="next-copy-0">
            <a:extLst xmlns:a="http://schemas.openxmlformats.org/drawingml/2006/main">
              <a:ext uri="{FF2B5EF4-FFF2-40B4-BE49-F238E27FC236}">
                <a16:creationId xmlns:a16="http://schemas.microsoft.com/office/drawing/2014/main" id="{12F940DD-5427-4A01-90B8-914FD5A22243}"/>
              </a:ext>
            </a:extLst>
          </p:cNvPr>
          <p:cNvSpPr>
            <a:spLocks xmlns:a="http://schemas.openxmlformats.org/drawingml/2006/main" noGrp="1"/>
          </p:cNvSpPr>
          <p:nvPr/>
        </p:nvSpPr>
        <p:spPr>
          <a:xfrm xmlns:a="http://schemas.openxmlformats.org/drawingml/2006/main">
            <a:off x="1600200" y="214312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51515"/>
                </a:solidFill>
                <a:latin typeface="Arial"/>
                <a:ea typeface="Arial"/>
                <a:cs typeface="Arial"/>
              </a:defRPr>
            </a:defPPr>
          </a:lstStyle>
          <a:p xmlns:a="http://schemas.openxmlformats.org/drawingml/2006/main">
            <a:pPr algn="l">
              <a:defRPr sz="1575" b="1">
                <a:solidFill>
                  <a:srgbClr val="151515"/>
                </a:solidFill>
                <a:latin typeface="Arial"/>
                <a:ea typeface="Arial"/>
                <a:cs typeface="Arial"/>
              </a:defRPr>
            </a:pPr>
            <a:r>
              <a:rPr sz="1575" b="1">
                <a:solidFill>
                  <a:srgbClr val="151515"/>
                </a:solidFill>
                <a:latin typeface="Arial"/>
                <a:ea typeface="Arial"/>
                <a:cs typeface="Arial"/>
              </a:rPr>
              <a:t>Bring the live story service into the reader experience.</a:t>
            </a:r>
          </a:p>
        </p:txBody>
      </p:sp>
      <p:sp>
        <p:nvSpPr>
          <p:cNvPr id="10" name="next-row-1">
            <a:extLst xmlns:a="http://schemas.openxmlformats.org/drawingml/2006/main">
              <a:ext uri="{FF2B5EF4-FFF2-40B4-BE49-F238E27FC236}">
                <a16:creationId xmlns:a16="http://schemas.microsoft.com/office/drawing/2014/main" id="{8A4CB708-0DF9-4158-8D71-0F077FA0E898}"/>
              </a:ext>
            </a:extLst>
          </p:cNvPr>
          <p:cNvSpPr>
            <a:spLocks xmlns:a="http://schemas.openxmlformats.org/drawingml/2006/main" noGrp="1"/>
          </p:cNvSpPr>
          <p:nvPr/>
        </p:nvSpPr>
        <p:spPr>
          <a:xfrm xmlns:a="http://schemas.openxmlformats.org/drawingml/2006/main">
            <a:off x="609600" y="2857500"/>
            <a:ext cx="10972800" cy="838200"/>
          </a:xfrm>
          <a:prstGeom xmlns:a="http://schemas.openxmlformats.org/drawingml/2006/main" prst="rect">
            <a:avLst/>
          </a:prstGeom>
          <a:solidFill xmlns:a="http://schemas.openxmlformats.org/drawingml/2006/main">
            <a:srgbClr val="E9FF42"/>
          </a:solidFill>
          <a:ln xmlns:a="http://schemas.openxmlformats.org/drawingml/2006/main" w="28575">
            <a:solidFill>
              <a:srgbClr val="151515"/>
            </a:solidFill>
            <a:prstDash val="solid"/>
          </a:ln>
        </p:spPr>
      </p:sp>
      <p:sp>
        <p:nvSpPr>
          <p:cNvPr id="11" name="next-num-1">
            <a:extLst xmlns:a="http://schemas.openxmlformats.org/drawingml/2006/main">
              <a:ext uri="{FF2B5EF4-FFF2-40B4-BE49-F238E27FC236}">
                <a16:creationId xmlns:a16="http://schemas.microsoft.com/office/drawing/2014/main" id="{F622048F-7768-42E9-8CFD-E9D815E8161C}"/>
              </a:ext>
            </a:extLst>
          </p:cNvPr>
          <p:cNvSpPr>
            <a:spLocks xmlns:a="http://schemas.openxmlformats.org/drawingml/2006/main" noGrp="1"/>
          </p:cNvSpPr>
          <p:nvPr/>
        </p:nvSpPr>
        <p:spPr>
          <a:xfrm xmlns:a="http://schemas.openxmlformats.org/drawingml/2006/main">
            <a:off x="800100" y="3019425"/>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2758E8"/>
                </a:solidFill>
                <a:latin typeface="Arial"/>
                <a:ea typeface="Arial"/>
                <a:cs typeface="Arial"/>
              </a:defRPr>
            </a:defPPr>
          </a:lstStyle>
          <a:p xmlns:a="http://schemas.openxmlformats.org/drawingml/2006/main">
            <a:pPr algn="l">
              <a:defRPr sz="1875" b="1">
                <a:solidFill>
                  <a:srgbClr val="2758E8"/>
                </a:solidFill>
                <a:latin typeface="Arial"/>
                <a:ea typeface="Arial"/>
                <a:cs typeface="Arial"/>
              </a:defRPr>
            </a:pPr>
            <a:r>
              <a:rPr sz="1875" b="1">
                <a:solidFill>
                  <a:srgbClr val="2758E8"/>
                </a:solidFill>
                <a:latin typeface="Arial"/>
                <a:ea typeface="Arial"/>
                <a:cs typeface="Arial"/>
              </a:rPr>
              <a:t>02</a:t>
            </a:r>
          </a:p>
        </p:txBody>
      </p:sp>
      <p:sp>
        <p:nvSpPr>
          <p:cNvPr id="12" name="next-label-1">
            <a:extLst xmlns:a="http://schemas.openxmlformats.org/drawingml/2006/main">
              <a:ext uri="{FF2B5EF4-FFF2-40B4-BE49-F238E27FC236}">
                <a16:creationId xmlns:a16="http://schemas.microsoft.com/office/drawing/2014/main" id="{1437EB43-3A8E-4EFC-AC73-B733434752B1}"/>
              </a:ext>
            </a:extLst>
          </p:cNvPr>
          <p:cNvSpPr>
            <a:spLocks xmlns:a="http://schemas.openxmlformats.org/drawingml/2006/main" noGrp="1"/>
          </p:cNvSpPr>
          <p:nvPr/>
        </p:nvSpPr>
        <p:spPr>
          <a:xfrm xmlns:a="http://schemas.openxmlformats.org/drawingml/2006/main">
            <a:off x="1600200" y="2971800"/>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5B5B55"/>
                </a:solidFill>
                <a:latin typeface="Arial"/>
                <a:ea typeface="Arial"/>
                <a:cs typeface="Arial"/>
              </a:defRPr>
            </a:defPPr>
          </a:lstStyle>
          <a:p xmlns:a="http://schemas.openxmlformats.org/drawingml/2006/main">
            <a:pPr algn="l">
              <a:defRPr sz="1200" b="1">
                <a:solidFill>
                  <a:srgbClr val="5B5B55"/>
                </a:solidFill>
                <a:latin typeface="Arial"/>
                <a:ea typeface="Arial"/>
                <a:cs typeface="Arial"/>
              </a:defRPr>
            </a:pPr>
            <a:r>
              <a:rPr sz="1200" b="1">
                <a:solidFill>
                  <a:srgbClr val="5B5B55"/>
                </a:solidFill>
                <a:latin typeface="Arial"/>
                <a:ea typeface="Arial"/>
                <a:cs typeface="Arial"/>
              </a:rPr>
              <a:t>VERIFY</a:t>
            </a:r>
          </a:p>
        </p:txBody>
      </p:sp>
      <p:sp>
        <p:nvSpPr>
          <p:cNvPr id="13" name="next-copy-1">
            <a:extLst xmlns:a="http://schemas.openxmlformats.org/drawingml/2006/main">
              <a:ext uri="{FF2B5EF4-FFF2-40B4-BE49-F238E27FC236}">
                <a16:creationId xmlns:a16="http://schemas.microsoft.com/office/drawing/2014/main" id="{42938A15-200B-4C50-AF0A-450EC4CB5DB3}"/>
              </a:ext>
            </a:extLst>
          </p:cNvPr>
          <p:cNvSpPr>
            <a:spLocks xmlns:a="http://schemas.openxmlformats.org/drawingml/2006/main" noGrp="1"/>
          </p:cNvSpPr>
          <p:nvPr/>
        </p:nvSpPr>
        <p:spPr>
          <a:xfrm xmlns:a="http://schemas.openxmlformats.org/drawingml/2006/main">
            <a:off x="1600200" y="322897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51515"/>
                </a:solidFill>
                <a:latin typeface="Arial"/>
                <a:ea typeface="Arial"/>
                <a:cs typeface="Arial"/>
              </a:defRPr>
            </a:defPPr>
          </a:lstStyle>
          <a:p xmlns:a="http://schemas.openxmlformats.org/drawingml/2006/main">
            <a:pPr algn="l">
              <a:defRPr sz="1575" b="1">
                <a:solidFill>
                  <a:srgbClr val="151515"/>
                </a:solidFill>
                <a:latin typeface="Arial"/>
                <a:ea typeface="Arial"/>
                <a:cs typeface="Arial"/>
              </a:defRPr>
            </a:pPr>
            <a:r>
              <a:rPr sz="1575" b="1">
                <a:solidFill>
                  <a:srgbClr val="151515"/>
                </a:solidFill>
                <a:latin typeface="Arial"/>
                <a:ea typeface="Arial"/>
                <a:cs typeface="Arial"/>
              </a:rPr>
              <a:t>Finish neutral editorial and quality checks before resuming the video scheduler.</a:t>
            </a:r>
          </a:p>
        </p:txBody>
      </p:sp>
      <p:sp>
        <p:nvSpPr>
          <p:cNvPr id="14" name="next-row-2">
            <a:extLst xmlns:a="http://schemas.openxmlformats.org/drawingml/2006/main">
              <a:ext uri="{FF2B5EF4-FFF2-40B4-BE49-F238E27FC236}">
                <a16:creationId xmlns:a16="http://schemas.microsoft.com/office/drawing/2014/main" id="{18030CE7-8D00-4E74-A575-04FB60198BC4}"/>
              </a:ext>
            </a:extLst>
          </p:cNvPr>
          <p:cNvSpPr>
            <a:spLocks xmlns:a="http://schemas.openxmlformats.org/drawingml/2006/main" noGrp="1"/>
          </p:cNvSpPr>
          <p:nvPr/>
        </p:nvSpPr>
        <p:spPr>
          <a:xfrm xmlns:a="http://schemas.openxmlformats.org/drawingml/2006/main">
            <a:off x="609600" y="3943350"/>
            <a:ext cx="10972800" cy="838200"/>
          </a:xfrm>
          <a:prstGeom xmlns:a="http://schemas.openxmlformats.org/drawingml/2006/main" prst="rect">
            <a:avLst/>
          </a:prstGeom>
          <a:solidFill xmlns:a="http://schemas.openxmlformats.org/drawingml/2006/main">
            <a:srgbClr val="FFFFFF"/>
          </a:solidFill>
          <a:ln xmlns:a="http://schemas.openxmlformats.org/drawingml/2006/main" w="28575">
            <a:solidFill>
              <a:srgbClr val="151515"/>
            </a:solidFill>
            <a:prstDash val="solid"/>
          </a:ln>
        </p:spPr>
      </p:sp>
      <p:sp>
        <p:nvSpPr>
          <p:cNvPr id="15" name="next-num-2">
            <a:extLst xmlns:a="http://schemas.openxmlformats.org/drawingml/2006/main">
              <a:ext uri="{FF2B5EF4-FFF2-40B4-BE49-F238E27FC236}">
                <a16:creationId xmlns:a16="http://schemas.microsoft.com/office/drawing/2014/main" id="{246FA3E3-4B13-407A-97F8-3F1BF587FE58}"/>
              </a:ext>
            </a:extLst>
          </p:cNvPr>
          <p:cNvSpPr>
            <a:spLocks xmlns:a="http://schemas.openxmlformats.org/drawingml/2006/main" noGrp="1"/>
          </p:cNvSpPr>
          <p:nvPr/>
        </p:nvSpPr>
        <p:spPr>
          <a:xfrm xmlns:a="http://schemas.openxmlformats.org/drawingml/2006/main">
            <a:off x="800100" y="4105275"/>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2758E8"/>
                </a:solidFill>
                <a:latin typeface="Arial"/>
                <a:ea typeface="Arial"/>
                <a:cs typeface="Arial"/>
              </a:defRPr>
            </a:defPPr>
          </a:lstStyle>
          <a:p xmlns:a="http://schemas.openxmlformats.org/drawingml/2006/main">
            <a:pPr algn="l">
              <a:defRPr sz="1875" b="1">
                <a:solidFill>
                  <a:srgbClr val="2758E8"/>
                </a:solidFill>
                <a:latin typeface="Arial"/>
                <a:ea typeface="Arial"/>
                <a:cs typeface="Arial"/>
              </a:defRPr>
            </a:pPr>
            <a:r>
              <a:rPr sz="1875" b="1">
                <a:solidFill>
                  <a:srgbClr val="2758E8"/>
                </a:solidFill>
                <a:latin typeface="Arial"/>
                <a:ea typeface="Arial"/>
                <a:cs typeface="Arial"/>
              </a:rPr>
              <a:t>03</a:t>
            </a:r>
          </a:p>
        </p:txBody>
      </p:sp>
      <p:sp>
        <p:nvSpPr>
          <p:cNvPr id="16" name="next-label-2">
            <a:extLst xmlns:a="http://schemas.openxmlformats.org/drawingml/2006/main">
              <a:ext uri="{FF2B5EF4-FFF2-40B4-BE49-F238E27FC236}">
                <a16:creationId xmlns:a16="http://schemas.microsoft.com/office/drawing/2014/main" id="{640C3059-B89D-4400-B8A9-B2E5675F4240}"/>
              </a:ext>
            </a:extLst>
          </p:cNvPr>
          <p:cNvSpPr>
            <a:spLocks xmlns:a="http://schemas.openxmlformats.org/drawingml/2006/main" noGrp="1"/>
          </p:cNvSpPr>
          <p:nvPr/>
        </p:nvSpPr>
        <p:spPr>
          <a:xfrm xmlns:a="http://schemas.openxmlformats.org/drawingml/2006/main">
            <a:off x="1600200" y="4057650"/>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5B5B55"/>
                </a:solidFill>
                <a:latin typeface="Arial"/>
                <a:ea typeface="Arial"/>
                <a:cs typeface="Arial"/>
              </a:defRPr>
            </a:defPPr>
          </a:lstStyle>
          <a:p xmlns:a="http://schemas.openxmlformats.org/drawingml/2006/main">
            <a:pPr algn="l">
              <a:defRPr sz="1200" b="1">
                <a:solidFill>
                  <a:srgbClr val="5B5B55"/>
                </a:solidFill>
                <a:latin typeface="Arial"/>
                <a:ea typeface="Arial"/>
                <a:cs typeface="Arial"/>
              </a:defRPr>
            </a:pPr>
            <a:r>
              <a:rPr sz="1200" b="1">
                <a:solidFill>
                  <a:srgbClr val="5B5B55"/>
                </a:solidFill>
                <a:latin typeface="Arial"/>
                <a:ea typeface="Arial"/>
                <a:cs typeface="Arial"/>
              </a:rPr>
              <a:t>MEASURE</a:t>
            </a:r>
          </a:p>
        </p:txBody>
      </p:sp>
      <p:sp>
        <p:nvSpPr>
          <p:cNvPr id="17" name="next-copy-2">
            <a:extLst xmlns:a="http://schemas.openxmlformats.org/drawingml/2006/main">
              <a:ext uri="{FF2B5EF4-FFF2-40B4-BE49-F238E27FC236}">
                <a16:creationId xmlns:a16="http://schemas.microsoft.com/office/drawing/2014/main" id="{CB09EBED-DB05-466B-BA0C-F40DEFDFE5A4}"/>
              </a:ext>
            </a:extLst>
          </p:cNvPr>
          <p:cNvSpPr>
            <a:spLocks xmlns:a="http://schemas.openxmlformats.org/drawingml/2006/main" noGrp="1"/>
          </p:cNvSpPr>
          <p:nvPr/>
        </p:nvSpPr>
        <p:spPr>
          <a:xfrm xmlns:a="http://schemas.openxmlformats.org/drawingml/2006/main">
            <a:off x="1600200" y="431482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51515"/>
                </a:solidFill>
                <a:latin typeface="Arial"/>
                <a:ea typeface="Arial"/>
                <a:cs typeface="Arial"/>
              </a:defRPr>
            </a:defPPr>
          </a:lstStyle>
          <a:p xmlns:a="http://schemas.openxmlformats.org/drawingml/2006/main">
            <a:pPr algn="l">
              <a:defRPr sz="1575" b="1">
                <a:solidFill>
                  <a:srgbClr val="151515"/>
                </a:solidFill>
                <a:latin typeface="Arial"/>
                <a:ea typeface="Arial"/>
                <a:cs typeface="Arial"/>
              </a:defRPr>
            </a:pPr>
            <a:r>
              <a:rPr sz="1575" b="1">
                <a:solidFill>
                  <a:srgbClr val="151515"/>
                </a:solidFill>
                <a:latin typeface="Arial"/>
                <a:ea typeface="Arial"/>
                <a:cs typeface="Arial"/>
              </a:rPr>
              <a:t>Add real website and Instagram analytics to assess reach and engagement.</a:t>
            </a:r>
          </a:p>
        </p:txBody>
      </p:sp>
      <p:sp>
        <p:nvSpPr>
          <p:cNvPr id="18" name="closing-band">
            <a:extLst xmlns:a="http://schemas.openxmlformats.org/drawingml/2006/main">
              <a:ext uri="{FF2B5EF4-FFF2-40B4-BE49-F238E27FC236}">
                <a16:creationId xmlns:a16="http://schemas.microsoft.com/office/drawing/2014/main" id="{1EDD72BB-FD6E-44B9-9442-7EE9B6EBC4C9}"/>
              </a:ext>
            </a:extLst>
          </p:cNvPr>
          <p:cNvSpPr>
            <a:spLocks xmlns:a="http://schemas.openxmlformats.org/drawingml/2006/main" noGrp="1"/>
          </p:cNvSpPr>
          <p:nvPr/>
        </p:nvSpPr>
        <p:spPr>
          <a:xfrm xmlns:a="http://schemas.openxmlformats.org/drawingml/2006/main">
            <a:off x="609600" y="5219700"/>
            <a:ext cx="10972800" cy="666750"/>
          </a:xfrm>
          <a:prstGeom xmlns:a="http://schemas.openxmlformats.org/drawingml/2006/main" prst="rect">
            <a:avLst/>
          </a:prstGeom>
          <a:solidFill xmlns:a="http://schemas.openxmlformats.org/drawingml/2006/main">
            <a:srgbClr val="2758E8"/>
          </a:solidFill>
          <a:ln xmlns:a="http://schemas.openxmlformats.org/drawingml/2006/main" w="28575">
            <a:solidFill>
              <a:srgbClr val="151515"/>
            </a:solidFill>
            <a:prstDash val="solid"/>
          </a:ln>
        </p:spPr>
      </p:sp>
      <p:sp>
        <p:nvSpPr>
          <p:cNvPr id="19" name="closing-line">
            <a:extLst xmlns:a="http://schemas.openxmlformats.org/drawingml/2006/main">
              <a:ext uri="{FF2B5EF4-FFF2-40B4-BE49-F238E27FC236}">
                <a16:creationId xmlns:a16="http://schemas.microsoft.com/office/drawing/2014/main" id="{AC5F2003-2E9A-40E1-A128-F04012B3326F}"/>
              </a:ext>
            </a:extLst>
          </p:cNvPr>
          <p:cNvSpPr>
            <a:spLocks xmlns:a="http://schemas.openxmlformats.org/drawingml/2006/main" noGrp="1"/>
          </p:cNvSpPr>
          <p:nvPr/>
        </p:nvSpPr>
        <p:spPr>
          <a:xfrm xmlns:a="http://schemas.openxmlformats.org/drawingml/2006/main">
            <a:off x="838200" y="5295900"/>
            <a:ext cx="1051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FFFFFF"/>
                </a:solidFill>
                <a:latin typeface="Arial"/>
                <a:ea typeface="Arial"/>
                <a:cs typeface="Arial"/>
              </a:defRPr>
            </a:def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The goal is not more headlines. It is better context for each one.</a:t>
            </a:r>
          </a:p>
        </p:txBody>
      </p:sp>
    </p:spTree>
    <p:extLst>
      <p:ext uri="{BB962C8B-B14F-4D97-AF65-F5344CB8AC3E}">
        <p14:creationId xmlns:p14="http://schemas.microsoft.com/office/powerpoint/2010/main" val="1726472335"/>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30" name="section-kicker">
            <a:extLst xmlns:a="http://schemas.openxmlformats.org/drawingml/2006/main">
              <a:ext uri="{FF2B5EF4-FFF2-40B4-BE49-F238E27FC236}">
                <a16:creationId xmlns:a16="http://schemas.microsoft.com/office/drawing/2014/main" id="{88EA5E1E-E9A1-4E94-A47F-831DA513471A}"/>
              </a:ext>
            </a:extLst>
          </p:cNvPr>
          <p:cNvSpPr>
            <a:spLocks xmlns:a="http://schemas.openxmlformats.org/drawingml/2006/main" noGrp="1"/>
          </p:cNvSpPr>
          <p:nvPr/>
        </p:nvSpPr>
        <p:spPr>
          <a:xfrm xmlns:a="http://schemas.openxmlformats.org/drawingml/2006/main">
            <a:off x="60960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151515"/>
                </a:solidFill>
                <a:latin typeface="Arial"/>
                <a:ea typeface="Arial"/>
                <a:cs typeface="Arial"/>
              </a:defRPr>
            </a:defPPr>
          </a:lstStyle>
          <a:p xmlns:a="http://schemas.openxmlformats.org/drawingml/2006/main">
            <a:pPr algn="l">
              <a:defRPr sz="1125" b="1">
                <a:solidFill>
                  <a:srgbClr val="151515"/>
                </a:solidFill>
                <a:latin typeface="Arial"/>
                <a:ea typeface="Arial"/>
                <a:cs typeface="Arial"/>
              </a:defRPr>
            </a:pPr>
            <a:r>
              <a:rPr sz="1125" b="1">
                <a:solidFill>
                  <a:srgbClr val="151515"/>
                </a:solidFill>
                <a:latin typeface="Arial"/>
                <a:ea typeface="Arial"/>
                <a:cs typeface="Arial"/>
              </a:rPr>
              <a:t>WEAWARE / SOURCE NOTES</a:t>
            </a:r>
          </a:p>
        </p:txBody>
      </p:sp>
      <p:sp>
        <p:nvSpPr>
          <p:cNvPr id="2" name="slide-title">
            <a:extLst xmlns:a="http://schemas.openxmlformats.org/drawingml/2006/main">
              <a:ext uri="{FF2B5EF4-FFF2-40B4-BE49-F238E27FC236}">
                <a16:creationId xmlns:a16="http://schemas.microsoft.com/office/drawing/2014/main" id="{D6D63E60-F9D3-4D2C-B602-E189193538D2}"/>
              </a:ext>
            </a:extLst>
          </p:cNvPr>
          <p:cNvSpPr>
            <a:spLocks xmlns:a="http://schemas.openxmlformats.org/drawingml/2006/main" noGrp="1"/>
          </p:cNvSpPr>
          <p:nvPr/>
        </p:nvSpPr>
        <p:spPr>
          <a:xfrm xmlns:a="http://schemas.openxmlformats.org/drawingml/2006/main">
            <a:off x="609600" y="704850"/>
            <a:ext cx="10934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51515"/>
                </a:solidFill>
                <a:latin typeface="Arial"/>
                <a:ea typeface="Arial"/>
                <a:cs typeface="Arial"/>
              </a:defRPr>
            </a:defPPr>
          </a:lstStyle>
          <a:p xmlns:a="http://schemas.openxmlformats.org/drawingml/2006/main">
            <a:pPr algn="l">
              <a:defRPr sz="3150" b="1">
                <a:solidFill>
                  <a:srgbClr val="151515"/>
                </a:solidFill>
                <a:latin typeface="Arial"/>
                <a:ea typeface="Arial"/>
                <a:cs typeface="Arial"/>
              </a:defRPr>
            </a:pPr>
            <a:r>
              <a:rPr sz="3150" b="1">
                <a:solidFill>
                  <a:srgbClr val="151515"/>
                </a:solidFill>
                <a:latin typeface="Arial"/>
                <a:ea typeface="Arial"/>
                <a:cs typeface="Arial"/>
              </a:rPr>
              <a:t>Project references</a:t>
            </a:r>
          </a:p>
        </p:txBody>
      </p:sp>
      <p:sp>
        <p:nvSpPr>
          <p:cNvPr id="3" name="">
            <a:extLst xmlns:a="http://schemas.openxmlformats.org/drawingml/2006/main">
              <a:ext uri="{FF2B5EF4-FFF2-40B4-BE49-F238E27FC236}">
                <a16:creationId xmlns:a16="http://schemas.microsoft.com/office/drawing/2014/main" id="{CD15CF65-CE47-4215-A748-0D398AB7BD4C}"/>
              </a:ext>
            </a:extLst>
          </p:cNvPr>
          <p:cNvSpPr>
            <a:spLocks xmlns:a="http://schemas.openxmlformats.org/drawingml/2006/main" noGrp="1"/>
          </p:cNvSpPr>
          <p:nvPr/>
        </p:nvSpPr>
        <p:spPr>
          <a:xfrm xmlns:a="http://schemas.openxmlformats.org/drawingml/2006/main">
            <a:off x="609600" y="6286500"/>
            <a:ext cx="10972800" cy="0"/>
          </a:xfrm>
          <a:prstGeom xmlns:a="http://schemas.openxmlformats.org/drawingml/2006/main" prst="line">
            <a:avLst/>
          </a:prstGeom>
          <a:noFill xmlns:a="http://schemas.openxmlformats.org/drawingml/2006/main"/>
          <a:ln xmlns:a="http://schemas.openxmlformats.org/drawingml/2006/main" w="19050">
            <a:solidFill>
              <a:srgbClr val="151515"/>
            </a:solidFill>
            <a:prstDash val="solid"/>
          </a:ln>
        </p:spPr>
      </p:sp>
      <p:sp>
        <p:nvSpPr>
          <p:cNvPr id="4" name="footer">
            <a:extLst xmlns:a="http://schemas.openxmlformats.org/drawingml/2006/main">
              <a:ext uri="{FF2B5EF4-FFF2-40B4-BE49-F238E27FC236}">
                <a16:creationId xmlns:a16="http://schemas.microsoft.com/office/drawing/2014/main" id="{4983B9A6-7F1A-4412-8E54-3B189D7A74A5}"/>
              </a:ext>
            </a:extLst>
          </p:cNvPr>
          <p:cNvSpPr>
            <a:spLocks xmlns:a="http://schemas.openxmlformats.org/drawingml/2006/main" noGrp="1"/>
          </p:cNvSpPr>
          <p:nvPr/>
        </p:nvSpPr>
        <p:spPr>
          <a:xfrm xmlns:a="http://schemas.openxmlformats.org/drawingml/2006/main">
            <a:off x="609600" y="639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5B5B55"/>
                </a:solidFill>
                <a:latin typeface="Arial"/>
                <a:ea typeface="Arial"/>
                <a:cs typeface="Arial"/>
              </a:defRPr>
            </a:defPPr>
          </a:lstStyle>
          <a:p xmlns:a="http://schemas.openxmlformats.org/drawingml/2006/main">
            <a:pPr algn="l">
              <a:defRPr sz="1050" b="1">
                <a:solidFill>
                  <a:srgbClr val="5B5B55"/>
                </a:solidFill>
                <a:latin typeface="Arial"/>
                <a:ea typeface="Arial"/>
                <a:cs typeface="Arial"/>
              </a:defRPr>
            </a:pPr>
            <a:r>
              <a:rPr sz="1050" b="1">
                <a:solidFill>
                  <a:srgbClr val="5B5B55"/>
                </a:solidFill>
                <a:latin typeface="Arial"/>
                <a:ea typeface="Arial"/>
                <a:cs typeface="Arial"/>
              </a:rPr>
              <a:t>WEAWARE  /  7-MINUTE PROJECT OVERVIEW</a:t>
            </a:r>
          </a:p>
        </p:txBody>
      </p:sp>
      <p:sp>
        <p:nvSpPr>
          <p:cNvPr id="5" name="slide-number">
            <a:extLst xmlns:a="http://schemas.openxmlformats.org/drawingml/2006/main">
              <a:ext uri="{FF2B5EF4-FFF2-40B4-BE49-F238E27FC236}">
                <a16:creationId xmlns:a16="http://schemas.microsoft.com/office/drawing/2014/main" id="{E236836D-38EB-4807-9657-D304F6044D44}"/>
              </a:ext>
            </a:extLst>
          </p:cNvPr>
          <p:cNvSpPr>
            <a:spLocks xmlns:a="http://schemas.openxmlformats.org/drawingml/2006/main" noGrp="1"/>
          </p:cNvSpPr>
          <p:nvPr/>
        </p:nvSpPr>
        <p:spPr>
          <a:xfrm xmlns:a="http://schemas.openxmlformats.org/drawingml/2006/main">
            <a:off x="10744200" y="6391275"/>
            <a:ext cx="83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5B55"/>
                </a:solidFill>
                <a:latin typeface="Arial"/>
                <a:ea typeface="Arial"/>
                <a:cs typeface="Arial"/>
              </a:defRPr>
            </a:defPPr>
          </a:lstStyle>
          <a:p xmlns:a="http://schemas.openxmlformats.org/drawingml/2006/main">
            <a:pPr algn="r">
              <a:defRPr sz="1050" b="1">
                <a:solidFill>
                  <a:srgbClr val="5B5B55"/>
                </a:solidFill>
                <a:latin typeface="Arial"/>
                <a:ea typeface="Arial"/>
                <a:cs typeface="Arial"/>
              </a:defRPr>
            </a:pPr>
            <a:r>
              <a:rPr sz="1050" b="1">
                <a:solidFill>
                  <a:srgbClr val="5B5B55"/>
                </a:solidFill>
                <a:latin typeface="Arial"/>
                <a:ea typeface="Arial"/>
                <a:cs typeface="Arial"/>
              </a:rPr>
              <a:t>09 / 09</a:t>
            </a:r>
          </a:p>
        </p:txBody>
      </p:sp>
      <p:sp>
        <p:nvSpPr>
          <p:cNvPr id="6" name="ref-kind-64-0">
            <a:extLst xmlns:a="http://schemas.openxmlformats.org/drawingml/2006/main">
              <a:ext uri="{FF2B5EF4-FFF2-40B4-BE49-F238E27FC236}">
                <a16:creationId xmlns:a16="http://schemas.microsoft.com/office/drawing/2014/main" id="{9BC37D24-4E08-4845-B24E-B68515E95959}"/>
              </a:ext>
            </a:extLst>
          </p:cNvPr>
          <p:cNvSpPr>
            <a:spLocks xmlns:a="http://schemas.openxmlformats.org/drawingml/2006/main" noGrp="1"/>
          </p:cNvSpPr>
          <p:nvPr/>
        </p:nvSpPr>
        <p:spPr>
          <a:xfrm xmlns:a="http://schemas.openxmlformats.org/drawingml/2006/main">
            <a:off x="609600" y="1571625"/>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INGESTION</a:t>
            </a:r>
          </a:p>
        </p:txBody>
      </p:sp>
      <p:sp>
        <p:nvSpPr>
          <p:cNvPr id="7" name="ref-file-64-0">
            <a:extLst xmlns:a="http://schemas.openxmlformats.org/drawingml/2006/main">
              <a:ext uri="{FF2B5EF4-FFF2-40B4-BE49-F238E27FC236}">
                <a16:creationId xmlns:a16="http://schemas.microsoft.com/office/drawing/2014/main" id="{EFACACA0-C090-4FFA-9EEC-194069B9A39A}"/>
              </a:ext>
            </a:extLst>
          </p:cNvPr>
          <p:cNvSpPr>
            <a:spLocks xmlns:a="http://schemas.openxmlformats.org/drawingml/2006/main" noGrp="1"/>
          </p:cNvSpPr>
          <p:nvPr/>
        </p:nvSpPr>
        <p:spPr>
          <a:xfrm xmlns:a="http://schemas.openxmlformats.org/drawingml/2006/main">
            <a:off x="609600" y="1847850"/>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backend/ingestion/run_stage1.py</a:t>
            </a:r>
          </a:p>
        </p:txBody>
      </p:sp>
      <p:sp>
        <p:nvSpPr>
          <p:cNvPr id="8" name="">
            <a:extLst xmlns:a="http://schemas.openxmlformats.org/drawingml/2006/main">
              <a:ext uri="{FF2B5EF4-FFF2-40B4-BE49-F238E27FC236}">
                <a16:creationId xmlns:a16="http://schemas.microsoft.com/office/drawing/2014/main" id="{F66CE7A1-1973-4B7C-8DEF-689A83F07167}"/>
              </a:ext>
            </a:extLst>
          </p:cNvPr>
          <p:cNvSpPr>
            <a:spLocks xmlns:a="http://schemas.openxmlformats.org/drawingml/2006/main" noGrp="1"/>
          </p:cNvSpPr>
          <p:nvPr/>
        </p:nvSpPr>
        <p:spPr>
          <a:xfrm xmlns:a="http://schemas.openxmlformats.org/drawingml/2006/main">
            <a:off x="609600" y="2371725"/>
            <a:ext cx="5219700" cy="0"/>
          </a:xfrm>
          <a:prstGeom xmlns:a="http://schemas.openxmlformats.org/drawingml/2006/main" prst="line">
            <a:avLst/>
          </a:prstGeom>
          <a:noFill xmlns:a="http://schemas.openxmlformats.org/drawingml/2006/main"/>
          <a:ln xmlns:a="http://schemas.openxmlformats.org/drawingml/2006/main" w="14288">
            <a:solidFill>
              <a:srgbClr val="151515"/>
            </a:solidFill>
            <a:prstDash val="solid"/>
          </a:ln>
        </p:spPr>
      </p:sp>
      <p:sp>
        <p:nvSpPr>
          <p:cNvPr id="9" name="ref-kind-64-1">
            <a:extLst xmlns:a="http://schemas.openxmlformats.org/drawingml/2006/main">
              <a:ext uri="{FF2B5EF4-FFF2-40B4-BE49-F238E27FC236}">
                <a16:creationId xmlns:a16="http://schemas.microsoft.com/office/drawing/2014/main" id="{AC68BBBF-4334-492E-9569-12C3A177AA94}"/>
              </a:ext>
            </a:extLst>
          </p:cNvPr>
          <p:cNvSpPr>
            <a:spLocks xmlns:a="http://schemas.openxmlformats.org/drawingml/2006/main" noGrp="1"/>
          </p:cNvSpPr>
          <p:nvPr/>
        </p:nvSpPr>
        <p:spPr>
          <a:xfrm xmlns:a="http://schemas.openxmlformats.org/drawingml/2006/main">
            <a:off x="609600" y="2514600"/>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STORY API</a:t>
            </a:r>
          </a:p>
        </p:txBody>
      </p:sp>
      <p:sp>
        <p:nvSpPr>
          <p:cNvPr id="10" name="ref-file-64-1">
            <a:extLst xmlns:a="http://schemas.openxmlformats.org/drawingml/2006/main">
              <a:ext uri="{FF2B5EF4-FFF2-40B4-BE49-F238E27FC236}">
                <a16:creationId xmlns:a16="http://schemas.microsoft.com/office/drawing/2014/main" id="{DF9DB43D-33DB-461A-9010-F5B0B38F0CC6}"/>
              </a:ext>
            </a:extLst>
          </p:cNvPr>
          <p:cNvSpPr>
            <a:spLocks xmlns:a="http://schemas.openxmlformats.org/drawingml/2006/main" noGrp="1"/>
          </p:cNvSpPr>
          <p:nvPr/>
        </p:nvSpPr>
        <p:spPr>
          <a:xfrm xmlns:a="http://schemas.openxmlformats.org/drawingml/2006/main">
            <a:off x="609600" y="2790825"/>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backend/api/main.py</a:t>
            </a:r>
          </a:p>
        </p:txBody>
      </p:sp>
      <p:sp>
        <p:nvSpPr>
          <p:cNvPr id="11" name="">
            <a:extLst xmlns:a="http://schemas.openxmlformats.org/drawingml/2006/main">
              <a:ext uri="{FF2B5EF4-FFF2-40B4-BE49-F238E27FC236}">
                <a16:creationId xmlns:a16="http://schemas.microsoft.com/office/drawing/2014/main" id="{63135AE5-0BEF-4432-B109-3DC7A5455482}"/>
              </a:ext>
            </a:extLst>
          </p:cNvPr>
          <p:cNvSpPr>
            <a:spLocks xmlns:a="http://schemas.openxmlformats.org/drawingml/2006/main" noGrp="1"/>
          </p:cNvSpPr>
          <p:nvPr/>
        </p:nvSpPr>
        <p:spPr>
          <a:xfrm xmlns:a="http://schemas.openxmlformats.org/drawingml/2006/main">
            <a:off x="609600" y="3314700"/>
            <a:ext cx="5219700" cy="0"/>
          </a:xfrm>
          <a:prstGeom xmlns:a="http://schemas.openxmlformats.org/drawingml/2006/main" prst="line">
            <a:avLst/>
          </a:prstGeom>
          <a:noFill xmlns:a="http://schemas.openxmlformats.org/drawingml/2006/main"/>
          <a:ln xmlns:a="http://schemas.openxmlformats.org/drawingml/2006/main" w="14288">
            <a:solidFill>
              <a:srgbClr val="151515"/>
            </a:solidFill>
            <a:prstDash val="solid"/>
          </a:ln>
        </p:spPr>
      </p:sp>
      <p:sp>
        <p:nvSpPr>
          <p:cNvPr id="12" name="ref-kind-64-2">
            <a:extLst xmlns:a="http://schemas.openxmlformats.org/drawingml/2006/main">
              <a:ext uri="{FF2B5EF4-FFF2-40B4-BE49-F238E27FC236}">
                <a16:creationId xmlns:a16="http://schemas.microsoft.com/office/drawing/2014/main" id="{F11901EB-0991-4358-B7F0-D76A59BCF9A5}"/>
              </a:ext>
            </a:extLst>
          </p:cNvPr>
          <p:cNvSpPr>
            <a:spLocks xmlns:a="http://schemas.openxmlformats.org/drawingml/2006/main" noGrp="1"/>
          </p:cNvSpPr>
          <p:nvPr/>
        </p:nvSpPr>
        <p:spPr>
          <a:xfrm xmlns:a="http://schemas.openxmlformats.org/drawingml/2006/main">
            <a:off x="609600" y="3457575"/>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VIDEO FLOW</a:t>
            </a:r>
          </a:p>
        </p:txBody>
      </p:sp>
      <p:sp>
        <p:nvSpPr>
          <p:cNvPr id="13" name="ref-file-64-2">
            <a:extLst xmlns:a="http://schemas.openxmlformats.org/drawingml/2006/main">
              <a:ext uri="{FF2B5EF4-FFF2-40B4-BE49-F238E27FC236}">
                <a16:creationId xmlns:a16="http://schemas.microsoft.com/office/drawing/2014/main" id="{88CF58DA-6E69-4421-B19E-5645010DC07B}"/>
              </a:ext>
            </a:extLst>
          </p:cNvPr>
          <p:cNvSpPr>
            <a:spLocks xmlns:a="http://schemas.openxmlformats.org/drawingml/2006/main" noGrp="1"/>
          </p:cNvSpPr>
          <p:nvPr/>
        </p:nvSpPr>
        <p:spPr>
          <a:xfrm xmlns:a="http://schemas.openxmlformats.org/drawingml/2006/main">
            <a:off x="609600" y="3733800"/>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video/README.md</a:t>
            </a:r>
          </a:p>
        </p:txBody>
      </p:sp>
      <p:sp>
        <p:nvSpPr>
          <p:cNvPr id="14" name="">
            <a:extLst xmlns:a="http://schemas.openxmlformats.org/drawingml/2006/main">
              <a:ext uri="{FF2B5EF4-FFF2-40B4-BE49-F238E27FC236}">
                <a16:creationId xmlns:a16="http://schemas.microsoft.com/office/drawing/2014/main" id="{1DD206B6-EBDE-4680-8D7B-CEBC7E1BF5CC}"/>
              </a:ext>
            </a:extLst>
          </p:cNvPr>
          <p:cNvSpPr>
            <a:spLocks xmlns:a="http://schemas.openxmlformats.org/drawingml/2006/main" noGrp="1"/>
          </p:cNvSpPr>
          <p:nvPr/>
        </p:nvSpPr>
        <p:spPr>
          <a:xfrm xmlns:a="http://schemas.openxmlformats.org/drawingml/2006/main">
            <a:off x="609600" y="4257675"/>
            <a:ext cx="5219700" cy="0"/>
          </a:xfrm>
          <a:prstGeom xmlns:a="http://schemas.openxmlformats.org/drawingml/2006/main" prst="line">
            <a:avLst/>
          </a:prstGeom>
          <a:noFill xmlns:a="http://schemas.openxmlformats.org/drawingml/2006/main"/>
          <a:ln xmlns:a="http://schemas.openxmlformats.org/drawingml/2006/main" w="14288">
            <a:solidFill>
              <a:srgbClr val="151515"/>
            </a:solidFill>
            <a:prstDash val="solid"/>
          </a:ln>
        </p:spPr>
      </p:sp>
      <p:sp>
        <p:nvSpPr>
          <p:cNvPr id="15" name="ref-kind-64-3">
            <a:extLst xmlns:a="http://schemas.openxmlformats.org/drawingml/2006/main">
              <a:ext uri="{FF2B5EF4-FFF2-40B4-BE49-F238E27FC236}">
                <a16:creationId xmlns:a16="http://schemas.microsoft.com/office/drawing/2014/main" id="{854C9B31-AF79-4221-886F-56FD3FA1EA4D}"/>
              </a:ext>
            </a:extLst>
          </p:cNvPr>
          <p:cNvSpPr>
            <a:spLocks xmlns:a="http://schemas.openxmlformats.org/drawingml/2006/main" noGrp="1"/>
          </p:cNvSpPr>
          <p:nvPr/>
        </p:nvSpPr>
        <p:spPr>
          <a:xfrm xmlns:a="http://schemas.openxmlformats.org/drawingml/2006/main">
            <a:off x="609600" y="4400550"/>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ORCHESTRATION</a:t>
            </a:r>
          </a:p>
        </p:txBody>
      </p:sp>
      <p:sp>
        <p:nvSpPr>
          <p:cNvPr id="16" name="ref-file-64-3">
            <a:extLst xmlns:a="http://schemas.openxmlformats.org/drawingml/2006/main">
              <a:ext uri="{FF2B5EF4-FFF2-40B4-BE49-F238E27FC236}">
                <a16:creationId xmlns:a16="http://schemas.microsoft.com/office/drawing/2014/main" id="{BD24D0CE-F2C1-4709-B8CD-45363F652AC7}"/>
              </a:ext>
            </a:extLst>
          </p:cNvPr>
          <p:cNvSpPr>
            <a:spLocks xmlns:a="http://schemas.openxmlformats.org/drawingml/2006/main" noGrp="1"/>
          </p:cNvSpPr>
          <p:nvPr/>
        </p:nvSpPr>
        <p:spPr>
          <a:xfrm xmlns:a="http://schemas.openxmlformats.org/drawingml/2006/main">
            <a:off x="609600" y="4676775"/>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video/pipeline/runner.py</a:t>
            </a:r>
          </a:p>
        </p:txBody>
      </p:sp>
      <p:sp>
        <p:nvSpPr>
          <p:cNvPr id="17" name="ref-kind-658-0">
            <a:extLst xmlns:a="http://schemas.openxmlformats.org/drawingml/2006/main">
              <a:ext uri="{FF2B5EF4-FFF2-40B4-BE49-F238E27FC236}">
                <a16:creationId xmlns:a16="http://schemas.microsoft.com/office/drawing/2014/main" id="{1037FE9C-7A01-476B-BC6C-A297981F21B3}"/>
              </a:ext>
            </a:extLst>
          </p:cNvPr>
          <p:cNvSpPr>
            <a:spLocks xmlns:a="http://schemas.openxmlformats.org/drawingml/2006/main" noGrp="1"/>
          </p:cNvSpPr>
          <p:nvPr/>
        </p:nvSpPr>
        <p:spPr>
          <a:xfrm xmlns:a="http://schemas.openxmlformats.org/drawingml/2006/main">
            <a:off x="6267450" y="1571625"/>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WEBSITE NAVIGATION</a:t>
            </a:r>
          </a:p>
        </p:txBody>
      </p:sp>
      <p:sp>
        <p:nvSpPr>
          <p:cNvPr id="18" name="ref-file-658-0">
            <a:extLst xmlns:a="http://schemas.openxmlformats.org/drawingml/2006/main">
              <a:ext uri="{FF2B5EF4-FFF2-40B4-BE49-F238E27FC236}">
                <a16:creationId xmlns:a16="http://schemas.microsoft.com/office/drawing/2014/main" id="{291499A5-ADA7-4193-820B-FA3BABC8C393}"/>
              </a:ext>
            </a:extLst>
          </p:cNvPr>
          <p:cNvSpPr>
            <a:spLocks xmlns:a="http://schemas.openxmlformats.org/drawingml/2006/main" noGrp="1"/>
          </p:cNvSpPr>
          <p:nvPr/>
        </p:nvSpPr>
        <p:spPr>
          <a:xfrm xmlns:a="http://schemas.openxmlformats.org/drawingml/2006/main">
            <a:off x="6267450" y="1847850"/>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WEAWARE/src/App.jsx</a:t>
            </a:r>
          </a:p>
        </p:txBody>
      </p:sp>
      <p:sp>
        <p:nvSpPr>
          <p:cNvPr id="19" name="">
            <a:extLst xmlns:a="http://schemas.openxmlformats.org/drawingml/2006/main">
              <a:ext uri="{FF2B5EF4-FFF2-40B4-BE49-F238E27FC236}">
                <a16:creationId xmlns:a16="http://schemas.microsoft.com/office/drawing/2014/main" id="{A6588878-3074-42C8-B3E6-73A2051AFCF8}"/>
              </a:ext>
            </a:extLst>
          </p:cNvPr>
          <p:cNvSpPr>
            <a:spLocks xmlns:a="http://schemas.openxmlformats.org/drawingml/2006/main" noGrp="1"/>
          </p:cNvSpPr>
          <p:nvPr/>
        </p:nvSpPr>
        <p:spPr>
          <a:xfrm xmlns:a="http://schemas.openxmlformats.org/drawingml/2006/main">
            <a:off x="6267450" y="2371725"/>
            <a:ext cx="5219700" cy="0"/>
          </a:xfrm>
          <a:prstGeom xmlns:a="http://schemas.openxmlformats.org/drawingml/2006/main" prst="line">
            <a:avLst/>
          </a:prstGeom>
          <a:noFill xmlns:a="http://schemas.openxmlformats.org/drawingml/2006/main"/>
          <a:ln xmlns:a="http://schemas.openxmlformats.org/drawingml/2006/main" w="14288">
            <a:solidFill>
              <a:srgbClr val="151515"/>
            </a:solidFill>
            <a:prstDash val="solid"/>
          </a:ln>
        </p:spPr>
      </p:sp>
      <p:sp>
        <p:nvSpPr>
          <p:cNvPr id="20" name="ref-kind-658-1">
            <a:extLst xmlns:a="http://schemas.openxmlformats.org/drawingml/2006/main">
              <a:ext uri="{FF2B5EF4-FFF2-40B4-BE49-F238E27FC236}">
                <a16:creationId xmlns:a16="http://schemas.microsoft.com/office/drawing/2014/main" id="{FECD031A-3310-4397-A074-C51E945A0AAF}"/>
              </a:ext>
            </a:extLst>
          </p:cNvPr>
          <p:cNvSpPr>
            <a:spLocks xmlns:a="http://schemas.openxmlformats.org/drawingml/2006/main" noGrp="1"/>
          </p:cNvSpPr>
          <p:nvPr/>
        </p:nvSpPr>
        <p:spPr>
          <a:xfrm xmlns:a="http://schemas.openxmlformats.org/drawingml/2006/main">
            <a:off x="6267450" y="2514600"/>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DEMO DATA DISCLOSURE</a:t>
            </a:r>
          </a:p>
        </p:txBody>
      </p:sp>
      <p:sp>
        <p:nvSpPr>
          <p:cNvPr id="21" name="ref-file-658-1">
            <a:extLst xmlns:a="http://schemas.openxmlformats.org/drawingml/2006/main">
              <a:ext uri="{FF2B5EF4-FFF2-40B4-BE49-F238E27FC236}">
                <a16:creationId xmlns:a16="http://schemas.microsoft.com/office/drawing/2014/main" id="{A8B34FE9-1FB5-4959-9CAC-0DDE3F9F5E70}"/>
              </a:ext>
            </a:extLst>
          </p:cNvPr>
          <p:cNvSpPr>
            <a:spLocks xmlns:a="http://schemas.openxmlformats.org/drawingml/2006/main" noGrp="1"/>
          </p:cNvSpPr>
          <p:nvPr/>
        </p:nvSpPr>
        <p:spPr>
          <a:xfrm xmlns:a="http://schemas.openxmlformats.org/drawingml/2006/main">
            <a:off x="6267450" y="2790825"/>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WEAWARE/src/data/stories.js</a:t>
            </a:r>
          </a:p>
        </p:txBody>
      </p:sp>
      <p:sp>
        <p:nvSpPr>
          <p:cNvPr id="22" name="">
            <a:extLst xmlns:a="http://schemas.openxmlformats.org/drawingml/2006/main">
              <a:ext uri="{FF2B5EF4-FFF2-40B4-BE49-F238E27FC236}">
                <a16:creationId xmlns:a16="http://schemas.microsoft.com/office/drawing/2014/main" id="{221FD316-302E-4E5A-9528-60D4F7E19092}"/>
              </a:ext>
            </a:extLst>
          </p:cNvPr>
          <p:cNvSpPr>
            <a:spLocks xmlns:a="http://schemas.openxmlformats.org/drawingml/2006/main" noGrp="1"/>
          </p:cNvSpPr>
          <p:nvPr/>
        </p:nvSpPr>
        <p:spPr>
          <a:xfrm xmlns:a="http://schemas.openxmlformats.org/drawingml/2006/main">
            <a:off x="6267450" y="3314700"/>
            <a:ext cx="5219700" cy="0"/>
          </a:xfrm>
          <a:prstGeom xmlns:a="http://schemas.openxmlformats.org/drawingml/2006/main" prst="line">
            <a:avLst/>
          </a:prstGeom>
          <a:noFill xmlns:a="http://schemas.openxmlformats.org/drawingml/2006/main"/>
          <a:ln xmlns:a="http://schemas.openxmlformats.org/drawingml/2006/main" w="14288">
            <a:solidFill>
              <a:srgbClr val="151515"/>
            </a:solidFill>
            <a:prstDash val="solid"/>
          </a:ln>
        </p:spPr>
      </p:sp>
      <p:sp>
        <p:nvSpPr>
          <p:cNvPr id="23" name="ref-kind-658-2">
            <a:extLst xmlns:a="http://schemas.openxmlformats.org/drawingml/2006/main">
              <a:ext uri="{FF2B5EF4-FFF2-40B4-BE49-F238E27FC236}">
                <a16:creationId xmlns:a16="http://schemas.microsoft.com/office/drawing/2014/main" id="{93F7C81A-D65B-46ED-9BA7-AB3E183B722F}"/>
              </a:ext>
            </a:extLst>
          </p:cNvPr>
          <p:cNvSpPr>
            <a:spLocks xmlns:a="http://schemas.openxmlformats.org/drawingml/2006/main" noGrp="1"/>
          </p:cNvSpPr>
          <p:nvPr/>
        </p:nvSpPr>
        <p:spPr>
          <a:xfrm xmlns:a="http://schemas.openxmlformats.org/drawingml/2006/main">
            <a:off x="6267450" y="3457575"/>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PRODUCT PRINCIPLES</a:t>
            </a:r>
          </a:p>
        </p:txBody>
      </p:sp>
      <p:sp>
        <p:nvSpPr>
          <p:cNvPr id="24" name="ref-file-658-2">
            <a:extLst xmlns:a="http://schemas.openxmlformats.org/drawingml/2006/main">
              <a:ext uri="{FF2B5EF4-FFF2-40B4-BE49-F238E27FC236}">
                <a16:creationId xmlns:a16="http://schemas.microsoft.com/office/drawing/2014/main" id="{F7A8B5F6-A28B-4490-8C4A-A85D4AC06918}"/>
              </a:ext>
            </a:extLst>
          </p:cNvPr>
          <p:cNvSpPr>
            <a:spLocks xmlns:a="http://schemas.openxmlformats.org/drawingml/2006/main" noGrp="1"/>
          </p:cNvSpPr>
          <p:nvPr/>
        </p:nvSpPr>
        <p:spPr>
          <a:xfrm xmlns:a="http://schemas.openxmlformats.org/drawingml/2006/main">
            <a:off x="6267450" y="3733800"/>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WEAWARE/src/components/AboutPage.jsx</a:t>
            </a:r>
          </a:p>
        </p:txBody>
      </p:sp>
      <p:sp>
        <p:nvSpPr>
          <p:cNvPr id="25" name="">
            <a:extLst xmlns:a="http://schemas.openxmlformats.org/drawingml/2006/main">
              <a:ext uri="{FF2B5EF4-FFF2-40B4-BE49-F238E27FC236}">
                <a16:creationId xmlns:a16="http://schemas.microsoft.com/office/drawing/2014/main" id="{1C4D6699-1623-4BD9-B22B-85C1CC99D60D}"/>
              </a:ext>
            </a:extLst>
          </p:cNvPr>
          <p:cNvSpPr>
            <a:spLocks xmlns:a="http://schemas.openxmlformats.org/drawingml/2006/main" noGrp="1"/>
          </p:cNvSpPr>
          <p:nvPr/>
        </p:nvSpPr>
        <p:spPr>
          <a:xfrm xmlns:a="http://schemas.openxmlformats.org/drawingml/2006/main">
            <a:off x="6267450" y="4257675"/>
            <a:ext cx="5219700" cy="0"/>
          </a:xfrm>
          <a:prstGeom xmlns:a="http://schemas.openxmlformats.org/drawingml/2006/main" prst="line">
            <a:avLst/>
          </a:prstGeom>
          <a:noFill xmlns:a="http://schemas.openxmlformats.org/drawingml/2006/main"/>
          <a:ln xmlns:a="http://schemas.openxmlformats.org/drawingml/2006/main" w="14288">
            <a:solidFill>
              <a:srgbClr val="151515"/>
            </a:solidFill>
            <a:prstDash val="solid"/>
          </a:ln>
        </p:spPr>
      </p:sp>
      <p:sp>
        <p:nvSpPr>
          <p:cNvPr id="26" name="ref-kind-658-3">
            <a:extLst xmlns:a="http://schemas.openxmlformats.org/drawingml/2006/main">
              <a:ext uri="{FF2B5EF4-FFF2-40B4-BE49-F238E27FC236}">
                <a16:creationId xmlns:a16="http://schemas.microsoft.com/office/drawing/2014/main" id="{0ADD32D1-E2F8-41B9-A5EA-0A521DAD2ED8}"/>
              </a:ext>
            </a:extLst>
          </p:cNvPr>
          <p:cNvSpPr>
            <a:spLocks xmlns:a="http://schemas.openxmlformats.org/drawingml/2006/main" noGrp="1"/>
          </p:cNvSpPr>
          <p:nvPr/>
        </p:nvSpPr>
        <p:spPr>
          <a:xfrm xmlns:a="http://schemas.openxmlformats.org/drawingml/2006/main">
            <a:off x="6267450" y="4400550"/>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2758E8"/>
                </a:solidFill>
                <a:latin typeface="Arial"/>
                <a:ea typeface="Arial"/>
                <a:cs typeface="Arial"/>
              </a:defRPr>
            </a:defPPr>
          </a:lstStyle>
          <a:p xmlns:a="http://schemas.openxmlformats.org/drawingml/2006/main">
            <a:pPr algn="l">
              <a:defRPr sz="1125" b="1">
                <a:solidFill>
                  <a:srgbClr val="2758E8"/>
                </a:solidFill>
                <a:latin typeface="Arial"/>
                <a:ea typeface="Arial"/>
                <a:cs typeface="Arial"/>
              </a:defRPr>
            </a:pPr>
            <a:r>
              <a:rPr sz="1125" b="1">
                <a:solidFill>
                  <a:srgbClr val="2758E8"/>
                </a:solidFill>
                <a:latin typeface="Arial"/>
                <a:ea typeface="Arial"/>
                <a:cs typeface="Arial"/>
              </a:rPr>
              <a:t>CURRENT VIDEO STATUS</a:t>
            </a:r>
          </a:p>
        </p:txBody>
      </p:sp>
      <p:sp>
        <p:nvSpPr>
          <p:cNvPr id="27" name="ref-file-658-3">
            <a:extLst xmlns:a="http://schemas.openxmlformats.org/drawingml/2006/main">
              <a:ext uri="{FF2B5EF4-FFF2-40B4-BE49-F238E27FC236}">
                <a16:creationId xmlns:a16="http://schemas.microsoft.com/office/drawing/2014/main" id="{90F77550-9065-4055-9892-8161F4991B11}"/>
              </a:ext>
            </a:extLst>
          </p:cNvPr>
          <p:cNvSpPr>
            <a:spLocks xmlns:a="http://schemas.openxmlformats.org/drawingml/2006/main" noGrp="1"/>
          </p:cNvSpPr>
          <p:nvPr/>
        </p:nvSpPr>
        <p:spPr>
          <a:xfrm xmlns:a="http://schemas.openxmlformats.org/drawingml/2006/main">
            <a:off x="6267450" y="4676775"/>
            <a:ext cx="5219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151515"/>
                </a:solidFill>
                <a:latin typeface="Arial"/>
                <a:ea typeface="Arial"/>
                <a:cs typeface="Arial"/>
              </a:defRPr>
            </a:defPPr>
          </a:lstStyle>
          <a:p xmlns:a="http://schemas.openxmlformats.org/drawingml/2006/main">
            <a:pPr algn="l">
              <a:defRPr sz="1500" b="1">
                <a:solidFill>
                  <a:srgbClr val="151515"/>
                </a:solidFill>
                <a:latin typeface="Arial"/>
                <a:ea typeface="Arial"/>
                <a:cs typeface="Arial"/>
              </a:defRPr>
            </a:pPr>
            <a:r>
              <a:rPr sz="1500" b="1">
                <a:solidFill>
                  <a:srgbClr val="151515"/>
                </a:solidFill>
                <a:latin typeface="Arial"/>
                <a:ea typeface="Arial"/>
                <a:cs typeface="Arial"/>
              </a:rPr>
              <a:t>HANDOFF.md</a:t>
            </a:r>
          </a:p>
        </p:txBody>
      </p:sp>
      <p:sp>
        <p:nvSpPr>
          <p:cNvPr id="28" name="review-date">
            <a:extLst xmlns:a="http://schemas.openxmlformats.org/drawingml/2006/main">
              <a:ext uri="{FF2B5EF4-FFF2-40B4-BE49-F238E27FC236}">
                <a16:creationId xmlns:a16="http://schemas.microsoft.com/office/drawing/2014/main" id="{E16F21C9-5811-4F19-8295-BF1D69C3B98C}"/>
              </a:ext>
            </a:extLst>
          </p:cNvPr>
          <p:cNvSpPr>
            <a:spLocks xmlns:a="http://schemas.openxmlformats.org/drawingml/2006/main" noGrp="1"/>
          </p:cNvSpPr>
          <p:nvPr/>
        </p:nvSpPr>
        <p:spPr>
          <a:xfrm xmlns:a="http://schemas.openxmlformats.org/drawingml/2006/main">
            <a:off x="609600" y="5448300"/>
            <a:ext cx="10972800" cy="457200"/>
          </a:xfrm>
          <a:prstGeom xmlns:a="http://schemas.openxmlformats.org/drawingml/2006/main" prst="rect">
            <a:avLst/>
          </a:prstGeom>
          <a:solidFill xmlns:a="http://schemas.openxmlformats.org/drawingml/2006/main">
            <a:srgbClr val="E9FF42"/>
          </a:solidFill>
          <a:ln xmlns:a="http://schemas.openxmlformats.org/drawingml/2006/main" w="19050">
            <a:solidFill>
              <a:srgbClr val="151515"/>
            </a:solidFill>
            <a:prstDash val="solid"/>
          </a:ln>
        </p:spPr>
      </p:sp>
      <p:sp>
        <p:nvSpPr>
          <p:cNvPr id="29" name="review-date-copy">
            <a:extLst xmlns:a="http://schemas.openxmlformats.org/drawingml/2006/main">
              <a:ext uri="{FF2B5EF4-FFF2-40B4-BE49-F238E27FC236}">
                <a16:creationId xmlns:a16="http://schemas.microsoft.com/office/drawing/2014/main" id="{78903C06-7334-49A0-9A59-62D35FCDF4A9}"/>
              </a:ext>
            </a:extLst>
          </p:cNvPr>
          <p:cNvSpPr>
            <a:spLocks xmlns:a="http://schemas.openxmlformats.org/drawingml/2006/main" noGrp="1"/>
          </p:cNvSpPr>
          <p:nvPr/>
        </p:nvSpPr>
        <p:spPr>
          <a:xfrm xmlns:a="http://schemas.openxmlformats.org/drawingml/2006/main">
            <a:off x="762000" y="5505450"/>
            <a:ext cx="10610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51515"/>
                </a:solidFill>
                <a:latin typeface="Arial"/>
                <a:ea typeface="Arial"/>
                <a:cs typeface="Arial"/>
              </a:defRPr>
            </a:defPPr>
          </a:lstStyle>
          <a:p xmlns:a="http://schemas.openxmlformats.org/drawingml/2006/main">
            <a:pPr algn="l">
              <a:defRPr sz="1275" b="1">
                <a:solidFill>
                  <a:srgbClr val="151515"/>
                </a:solidFill>
                <a:latin typeface="Arial"/>
                <a:ea typeface="Arial"/>
                <a:cs typeface="Arial"/>
              </a:defRPr>
            </a:pPr>
            <a:r>
              <a:rPr sz="1275" b="1">
                <a:solidFill>
                  <a:srgbClr val="151515"/>
                </a:solidFill>
                <a:latin typeface="Arial"/>
                <a:ea typeface="Arial"/>
                <a:cs typeface="Arial"/>
              </a:rPr>
              <a:t>Repository reviewed 14 October 2026  •  Screenshot and Instagram metrics not provided</a:t>
            </a:r>
          </a:p>
        </p:txBody>
      </p:sp>
    </p:spTree>
    <p:extLst>
      <p:ext uri="{BB962C8B-B14F-4D97-AF65-F5344CB8AC3E}">
        <p14:creationId xmlns:p14="http://schemas.microsoft.com/office/powerpoint/2010/main" val="10766922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2026-10-14T18:18:11.2460000Z</dcterms:created>
  <dcterms:modified xsi:type="dcterms:W3CDTF">2026-10-14T18:18:11.2460000Z</dcterms:modified>
</coreProperties>
</file>